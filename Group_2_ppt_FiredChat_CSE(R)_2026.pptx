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67" r:id="rId2"/>
    <p:sldId id="275" r:id="rId3"/>
    <p:sldId id="256" r:id="rId4"/>
    <p:sldId id="260" r:id="rId5"/>
    <p:sldId id="259" r:id="rId6"/>
    <p:sldId id="258" r:id="rId7"/>
    <p:sldId id="274" r:id="rId8"/>
    <p:sldId id="271" r:id="rId9"/>
    <p:sldId id="272" r:id="rId10"/>
    <p:sldId id="261" r:id="rId11"/>
    <p:sldId id="270" r:id="rId12"/>
    <p:sldId id="273" r:id="rId13"/>
    <p:sldId id="262" r:id="rId14"/>
    <p:sldId id="276" r:id="rId15"/>
    <p:sldId id="265" r:id="rId16"/>
    <p:sldId id="269" r:id="rId17"/>
    <p:sldId id="26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02DF50-E180-4A34-B3D4-54FB77875D29}" type="doc">
      <dgm:prSet loTypeId="urn:microsoft.com/office/officeart/2005/8/layout/vList3" loCatId="list" qsTypeId="urn:microsoft.com/office/officeart/2005/8/quickstyle/simple1" qsCatId="simple" csTypeId="urn:microsoft.com/office/officeart/2005/8/colors/accent1_2" csCatId="accent1" phldr="0"/>
      <dgm:spPr/>
    </dgm:pt>
    <dgm:pt modelId="{1E3935F8-9FB0-4469-9E5E-2DD262F1EE65}" type="pres">
      <dgm:prSet presAssocID="{F502DF50-E180-4A34-B3D4-54FB77875D29}" presName="linearFlow" presStyleCnt="0">
        <dgm:presLayoutVars>
          <dgm:dir/>
          <dgm:resizeHandles val="exact"/>
        </dgm:presLayoutVars>
      </dgm:prSet>
      <dgm:spPr/>
    </dgm:pt>
  </dgm:ptLst>
  <dgm:cxnLst>
    <dgm:cxn modelId="{39F02A50-DDBB-4991-8AB8-CE75BEFF084D}" type="presOf" srcId="{F502DF50-E180-4A34-B3D4-54FB77875D29}" destId="{1E3935F8-9FB0-4469-9E5E-2DD262F1EE65}" srcOrd="0"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2462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70130-8981-71F4-2C72-16CA02E4B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65A74-84D9-ABBD-544E-C7C2E8DB3E3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362C1EB-684A-0011-A2F8-519F8D8C4D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22913A-6996-91D3-214E-D7A3709994F6}"/>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99859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83208-6895-D7EC-1CAD-7A3B8B02A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DB8F2-0B7F-2824-AD46-57CDE6ACB93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70A9C89-1092-FCE1-A01A-6CB55BCE7B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776E29-4658-42EA-1568-E6F4F684A3F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687916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8F5B0-53B0-2B98-E737-F56726942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23DB9-2943-FD23-B132-26ABDCE6F33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351670B-F04F-6DFA-CFC6-C6C8EF1AF2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BF98E4-E50A-B5CD-0FD0-2DF8A87DFF3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5059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C583F-4DE7-7963-F0E8-A556B1B92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05EBD-8476-FE35-78BF-F1EE8890E62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7561EB2-B6DF-F347-E98D-AC1FA44D3C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6E1746-428C-8A4D-594E-C4E3D34FEDC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9004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31477-02E7-D4FF-C608-818EC9C3F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12B3D-FA78-9369-E820-7217F4929F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9897750-82C3-D118-0927-E8E4E39FCD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E30913-4D22-3B76-66A5-B903D7A9E02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43790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6D2CC-E362-D561-89F4-F2BC88B98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2E203-BEC8-8CCE-C470-466BA9DD554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728D136-37B8-7A04-564F-7F74A1640D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BD4919-3065-86AB-F6D2-19235CEDE59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766320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ED1DF-D188-C643-A832-29669C17D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DA309-69AD-BF68-4931-42E7CD6FCA7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FAAB233-550B-AF8F-C27D-A76DF0DE85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16C0C9-B254-BEB3-C9C5-E85608B7C83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8603707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475BE-ED81-8060-DDD1-34A9FCDE9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46ACA-A206-3693-10A3-9F86066C84D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6E755C7-9E9E-053C-8A0F-305190EEBB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D0ADED-6DE1-95DD-0D4E-6377DC76F3FE}"/>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944056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image" Target="../media/image1.png"/><Relationship Id="rId5" Type="http://schemas.openxmlformats.org/officeDocument/2006/relationships/diagramData" Target="../diagrams/data1.xml"/><Relationship Id="rId10" Type="http://schemas.openxmlformats.org/officeDocument/2006/relationships/image" Target="../media/image13.png"/><Relationship Id="rId4" Type="http://schemas.openxmlformats.org/officeDocument/2006/relationships/image" Target="../media/image3.png"/><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hyperlink" Target="https://socket.io/docs" TargetMode="External"/><Relationship Id="rId3" Type="http://schemas.openxmlformats.org/officeDocument/2006/relationships/image" Target="../media/image14.png"/><Relationship Id="rId7" Type="http://schemas.openxmlformats.org/officeDocument/2006/relationships/hyperlink" Target="https://tailwindcss.com/doc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7AD56-ACF9-FB83-8F73-18F9EE26D69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3201936-8DD2-F936-DFF7-1B65ED85DA0A}"/>
              </a:ext>
            </a:extLst>
          </p:cNvPr>
          <p:cNvPicPr>
            <a:picLocks noChangeAspect="1"/>
          </p:cNvPicPr>
          <p:nvPr/>
        </p:nvPicPr>
        <p:blipFill>
          <a:blip r:embed="rId3"/>
          <a:srcRect/>
          <a:stretch/>
        </p:blipFill>
        <p:spPr>
          <a:xfrm>
            <a:off x="0" y="4822211"/>
            <a:ext cx="3809905" cy="1859404"/>
          </a:xfrm>
          <a:prstGeom prst="rect">
            <a:avLst/>
          </a:prstGeom>
        </p:spPr>
      </p:pic>
      <p:pic>
        <p:nvPicPr>
          <p:cNvPr id="3" name="Image 1" descr="preencoded.png">
            <a:extLst>
              <a:ext uri="{FF2B5EF4-FFF2-40B4-BE49-F238E27FC236}">
                <a16:creationId xmlns:a16="http://schemas.microsoft.com/office/drawing/2014/main" id="{FE4D38F3-4FEF-C8EC-8819-598FF3D2F0CD}"/>
              </a:ext>
            </a:extLst>
          </p:cNvPr>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a:extLst>
              <a:ext uri="{FF2B5EF4-FFF2-40B4-BE49-F238E27FC236}">
                <a16:creationId xmlns:a16="http://schemas.microsoft.com/office/drawing/2014/main" id="{74726C56-2C30-59B7-4E51-8720DCBE5C14}"/>
              </a:ext>
            </a:extLst>
          </p:cNvPr>
          <p:cNvPicPr>
            <a:picLocks noChangeAspect="1"/>
          </p:cNvPicPr>
          <p:nvPr/>
        </p:nvPicPr>
        <p:blipFill>
          <a:blip r:embed="rId5"/>
          <a:srcRect/>
          <a:stretch/>
        </p:blipFill>
        <p:spPr>
          <a:xfrm>
            <a:off x="8381790" y="0"/>
            <a:ext cx="3764185" cy="2031949"/>
          </a:xfrm>
          <a:prstGeom prst="rect">
            <a:avLst/>
          </a:prstGeom>
        </p:spPr>
      </p:pic>
      <p:sp>
        <p:nvSpPr>
          <p:cNvPr id="5" name="Text 0">
            <a:extLst>
              <a:ext uri="{FF2B5EF4-FFF2-40B4-BE49-F238E27FC236}">
                <a16:creationId xmlns:a16="http://schemas.microsoft.com/office/drawing/2014/main" id="{D8F7112A-E7BB-EF7F-50C0-13589886E14D}"/>
              </a:ext>
            </a:extLst>
          </p:cNvPr>
          <p:cNvSpPr/>
          <p:nvPr/>
        </p:nvSpPr>
        <p:spPr>
          <a:xfrm>
            <a:off x="1015975" y="634984"/>
            <a:ext cx="10159746" cy="888978"/>
          </a:xfrm>
          <a:prstGeom prst="rect">
            <a:avLst/>
          </a:prstGeom>
          <a:noFill/>
          <a:ln/>
        </p:spPr>
        <p:txBody>
          <a:bodyPr wrap="square" lIns="0" tIns="0" rIns="0" bIns="0" rtlCol="0" anchor="t"/>
          <a:lstStyle/>
          <a:p>
            <a:pPr marL="0" indent="0" algn="ctr">
              <a:lnSpc>
                <a:spcPct val="120000"/>
              </a:lnSpc>
              <a:buNone/>
            </a:pPr>
            <a:r>
              <a:rPr lang="en-US" sz="3000" b="1" dirty="0">
                <a:latin typeface="Calibri" pitchFamily="34" charset="0"/>
                <a:ea typeface="Calibri" pitchFamily="34" charset="-122"/>
                <a:cs typeface="Calibri" pitchFamily="34" charset="-120"/>
              </a:rPr>
              <a:t>Fired Chat
</a:t>
            </a:r>
            <a:endParaRPr lang="en-US" sz="3000" dirty="0"/>
          </a:p>
        </p:txBody>
      </p:sp>
      <p:sp>
        <p:nvSpPr>
          <p:cNvPr id="6" name="Text 1">
            <a:extLst>
              <a:ext uri="{FF2B5EF4-FFF2-40B4-BE49-F238E27FC236}">
                <a16:creationId xmlns:a16="http://schemas.microsoft.com/office/drawing/2014/main" id="{CE81F94C-F7C2-75BB-4E68-8C7369E00BC1}"/>
              </a:ext>
            </a:extLst>
          </p:cNvPr>
          <p:cNvSpPr/>
          <p:nvPr/>
        </p:nvSpPr>
        <p:spPr>
          <a:xfrm>
            <a:off x="8550993" y="4669456"/>
            <a:ext cx="3425778" cy="1859404"/>
          </a:xfrm>
          <a:prstGeom prst="rect">
            <a:avLst/>
          </a:prstGeom>
          <a:noFill/>
          <a:ln/>
        </p:spPr>
        <p:txBody>
          <a:bodyPr wrap="square" lIns="0" tIns="0" rIns="0" bIns="0" rtlCol="0" anchor="t"/>
          <a:lstStyle/>
          <a:p>
            <a:pPr>
              <a:lnSpc>
                <a:spcPct val="120000"/>
              </a:lnSpc>
            </a:pPr>
            <a:r>
              <a:rPr lang="en-IN" sz="1600" b="1" dirty="0"/>
              <a:t>Submitted By: </a:t>
            </a:r>
          </a:p>
          <a:p>
            <a:pPr>
              <a:lnSpc>
                <a:spcPct val="120000"/>
              </a:lnSpc>
            </a:pPr>
            <a:r>
              <a:rPr lang="en-US" sz="1600" dirty="0"/>
              <a:t>Ankit Sahu | 2200520100013</a:t>
            </a:r>
          </a:p>
          <a:p>
            <a:pPr>
              <a:lnSpc>
                <a:spcPct val="120000"/>
              </a:lnSpc>
            </a:pPr>
            <a:r>
              <a:rPr lang="en-US" sz="1600" dirty="0"/>
              <a:t>Harsh Shukla | 2200520100026</a:t>
            </a:r>
          </a:p>
          <a:p>
            <a:pPr>
              <a:lnSpc>
                <a:spcPct val="120000"/>
              </a:lnSpc>
            </a:pPr>
            <a:r>
              <a:rPr lang="en-US" sz="1600" dirty="0"/>
              <a:t>Karnakant Pandey | 2200520100032</a:t>
            </a:r>
          </a:p>
        </p:txBody>
      </p:sp>
      <p:sp>
        <p:nvSpPr>
          <p:cNvPr id="16" name="Text 10">
            <a:extLst>
              <a:ext uri="{FF2B5EF4-FFF2-40B4-BE49-F238E27FC236}">
                <a16:creationId xmlns:a16="http://schemas.microsoft.com/office/drawing/2014/main" id="{4F22ACA1-BCE8-DAF1-D788-F790592838DB}"/>
              </a:ext>
            </a:extLst>
          </p:cNvPr>
          <p:cNvSpPr/>
          <p:nvPr/>
        </p:nvSpPr>
        <p:spPr>
          <a:xfrm>
            <a:off x="10667733" y="6222844"/>
            <a:ext cx="1079473" cy="380990"/>
          </a:xfrm>
          <a:prstGeom prst="rect">
            <a:avLst/>
          </a:prstGeom>
          <a:noFill/>
          <a:ln/>
        </p:spPr>
        <p:txBody>
          <a:bodyPr wrap="square" lIns="0" tIns="0" rIns="0" bIns="0" rtlCol="0" anchor="t"/>
          <a:lstStyle/>
          <a:p>
            <a:pPr marL="0" indent="0" algn="l">
              <a:lnSpc>
                <a:spcPct val="120000"/>
              </a:lnSpc>
              <a:buNone/>
            </a:pPr>
            <a:endParaRPr lang="en-US" sz="1000" dirty="0"/>
          </a:p>
        </p:txBody>
      </p:sp>
      <p:pic>
        <p:nvPicPr>
          <p:cNvPr id="15" name="Picture 14">
            <a:extLst>
              <a:ext uri="{FF2B5EF4-FFF2-40B4-BE49-F238E27FC236}">
                <a16:creationId xmlns:a16="http://schemas.microsoft.com/office/drawing/2014/main" id="{55F67C19-B347-EDFC-9884-8EDD35F5EDAB}"/>
              </a:ext>
            </a:extLst>
          </p:cNvPr>
          <p:cNvPicPr/>
          <p:nvPr/>
        </p:nvPicPr>
        <p:blipFill>
          <a:blip r:embed="rId6"/>
          <a:stretch>
            <a:fillRect/>
          </a:stretch>
        </p:blipFill>
        <p:spPr>
          <a:xfrm>
            <a:off x="5071745" y="1492503"/>
            <a:ext cx="2048510" cy="2132965"/>
          </a:xfrm>
          <a:prstGeom prst="rect">
            <a:avLst/>
          </a:prstGeom>
        </p:spPr>
      </p:pic>
      <p:sp>
        <p:nvSpPr>
          <p:cNvPr id="18" name="TextBox 17">
            <a:extLst>
              <a:ext uri="{FF2B5EF4-FFF2-40B4-BE49-F238E27FC236}">
                <a16:creationId xmlns:a16="http://schemas.microsoft.com/office/drawing/2014/main" id="{0759899D-7AF3-0741-A335-D619E9B14D8C}"/>
              </a:ext>
            </a:extLst>
          </p:cNvPr>
          <p:cNvSpPr txBox="1"/>
          <p:nvPr/>
        </p:nvSpPr>
        <p:spPr>
          <a:xfrm>
            <a:off x="3205981" y="3707265"/>
            <a:ext cx="6096000" cy="369332"/>
          </a:xfrm>
          <a:prstGeom prst="rect">
            <a:avLst/>
          </a:prstGeom>
          <a:noFill/>
        </p:spPr>
        <p:txBody>
          <a:bodyPr wrap="square">
            <a:spAutoFit/>
          </a:bodyPr>
          <a:lstStyle/>
          <a:p>
            <a:pPr algn="ctr"/>
            <a:r>
              <a:rPr lang="en-US" dirty="0"/>
              <a:t>Department of Computer Science &amp; engineering IET Lucknow</a:t>
            </a:r>
            <a:endParaRPr lang="en-IN" dirty="0"/>
          </a:p>
        </p:txBody>
      </p:sp>
      <p:sp>
        <p:nvSpPr>
          <p:cNvPr id="20" name="TextBox 19">
            <a:extLst>
              <a:ext uri="{FF2B5EF4-FFF2-40B4-BE49-F238E27FC236}">
                <a16:creationId xmlns:a16="http://schemas.microsoft.com/office/drawing/2014/main" id="{ADBFDCB3-00A6-DD72-5279-320611F21C1A}"/>
              </a:ext>
            </a:extLst>
          </p:cNvPr>
          <p:cNvSpPr txBox="1"/>
          <p:nvPr/>
        </p:nvSpPr>
        <p:spPr>
          <a:xfrm>
            <a:off x="247864" y="4667141"/>
            <a:ext cx="6096000" cy="923330"/>
          </a:xfrm>
          <a:prstGeom prst="rect">
            <a:avLst/>
          </a:prstGeom>
          <a:noFill/>
        </p:spPr>
        <p:txBody>
          <a:bodyPr wrap="square">
            <a:spAutoFit/>
          </a:bodyPr>
          <a:lstStyle/>
          <a:p>
            <a:r>
              <a:rPr lang="en-US" b="1" dirty="0"/>
              <a:t>Under the guidance of :</a:t>
            </a:r>
          </a:p>
          <a:p>
            <a:r>
              <a:rPr lang="en-US" dirty="0"/>
              <a:t>Dr. Natthan Singh</a:t>
            </a:r>
          </a:p>
          <a:p>
            <a:r>
              <a:rPr lang="en-US" dirty="0"/>
              <a:t>Dr. Pawan Kumar Tiwari</a:t>
            </a:r>
            <a:endParaRPr lang="en-IN" dirty="0"/>
          </a:p>
        </p:txBody>
      </p:sp>
    </p:spTree>
    <p:extLst>
      <p:ext uri="{BB962C8B-B14F-4D97-AF65-F5344CB8AC3E}">
        <p14:creationId xmlns:p14="http://schemas.microsoft.com/office/powerpoint/2010/main" val="288409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07CBE-E7FA-0556-56D2-7ADA77784AB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E0F61CE-C895-DBB4-C9AD-65BA47959D77}"/>
              </a:ext>
            </a:extLst>
          </p:cNvPr>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a:extLst>
              <a:ext uri="{FF2B5EF4-FFF2-40B4-BE49-F238E27FC236}">
                <a16:creationId xmlns:a16="http://schemas.microsoft.com/office/drawing/2014/main" id="{95A9B8A4-4449-5079-2BB7-4F0C9717E1B2}"/>
              </a:ext>
            </a:extLst>
          </p:cNvPr>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a:extLst>
              <a:ext uri="{FF2B5EF4-FFF2-40B4-BE49-F238E27FC236}">
                <a16:creationId xmlns:a16="http://schemas.microsoft.com/office/drawing/2014/main" id="{01CC9BF6-D824-E38A-B390-2B886A2DE33E}"/>
              </a:ext>
            </a:extLst>
          </p:cNvPr>
          <p:cNvPicPr>
            <a:picLocks noChangeAspect="1"/>
          </p:cNvPicPr>
          <p:nvPr/>
        </p:nvPicPr>
        <p:blipFill>
          <a:blip r:embed="rId5"/>
          <a:srcRect/>
          <a:stretch/>
        </p:blipFill>
        <p:spPr>
          <a:xfrm>
            <a:off x="8381790" y="0"/>
            <a:ext cx="3764185" cy="2031949"/>
          </a:xfrm>
          <a:prstGeom prst="rect">
            <a:avLst/>
          </a:prstGeom>
        </p:spPr>
      </p:pic>
      <p:sp>
        <p:nvSpPr>
          <p:cNvPr id="5" name="Text 0">
            <a:extLst>
              <a:ext uri="{FF2B5EF4-FFF2-40B4-BE49-F238E27FC236}">
                <a16:creationId xmlns:a16="http://schemas.microsoft.com/office/drawing/2014/main" id="{08C741C3-428D-DDFB-5D45-D03BE9E9C962}"/>
              </a:ext>
            </a:extLst>
          </p:cNvPr>
          <p:cNvSpPr/>
          <p:nvPr/>
        </p:nvSpPr>
        <p:spPr>
          <a:xfrm>
            <a:off x="1015975" y="634984"/>
            <a:ext cx="10159746" cy="704073"/>
          </a:xfrm>
          <a:prstGeom prst="rect">
            <a:avLst/>
          </a:prstGeom>
          <a:noFill/>
          <a:ln/>
        </p:spPr>
        <p:txBody>
          <a:bodyPr wrap="square" lIns="0" tIns="0" rIns="0" bIns="0" rtlCol="0" anchor="t"/>
          <a:lstStyle/>
          <a:p>
            <a:pPr marL="0" indent="0" algn="l">
              <a:lnSpc>
                <a:spcPct val="120000"/>
              </a:lnSpc>
              <a:buNone/>
            </a:pPr>
            <a:r>
              <a:rPr lang="en-US" sz="3000" b="1" dirty="0">
                <a:latin typeface="Calibri" pitchFamily="34" charset="0"/>
                <a:ea typeface="Calibri" pitchFamily="34" charset="-122"/>
                <a:cs typeface="Calibri" pitchFamily="34" charset="-120"/>
              </a:rPr>
              <a:t>Agenda
</a:t>
            </a:r>
            <a:endParaRPr lang="en-US" sz="3000" dirty="0"/>
          </a:p>
        </p:txBody>
      </p:sp>
      <p:sp>
        <p:nvSpPr>
          <p:cNvPr id="6" name="Text 1">
            <a:extLst>
              <a:ext uri="{FF2B5EF4-FFF2-40B4-BE49-F238E27FC236}">
                <a16:creationId xmlns:a16="http://schemas.microsoft.com/office/drawing/2014/main" id="{1603A6F7-BAF2-97F8-73C3-565C9DED6502}"/>
              </a:ext>
            </a:extLst>
          </p:cNvPr>
          <p:cNvSpPr/>
          <p:nvPr/>
        </p:nvSpPr>
        <p:spPr>
          <a:xfrm>
            <a:off x="1015975" y="1579100"/>
            <a:ext cx="10159746" cy="4358357"/>
          </a:xfrm>
          <a:prstGeom prst="rect">
            <a:avLst/>
          </a:prstGeom>
          <a:noFill/>
          <a:ln/>
        </p:spPr>
        <p:txBody>
          <a:bodyPr wrap="square" lIns="0" tIns="0" rIns="0" bIns="0" rtlCol="0" anchor="t"/>
          <a:lstStyle/>
          <a:p>
            <a:pPr marL="0" indent="0" algn="l">
              <a:lnSpc>
                <a:spcPct val="120000"/>
              </a:lnSpc>
              <a:buNone/>
            </a:pPr>
            <a:r>
              <a:rPr lang="en-US" sz="1600" b="1" dirty="0">
                <a:latin typeface="Calibri" pitchFamily="34" charset="0"/>
                <a:ea typeface="Calibri" pitchFamily="34" charset="-122"/>
                <a:cs typeface="Calibri" pitchFamily="34" charset="-120"/>
              </a:rPr>
              <a:t>
</a:t>
            </a:r>
            <a:endParaRPr lang="en-US" sz="1600" dirty="0"/>
          </a:p>
        </p:txBody>
      </p:sp>
      <p:sp>
        <p:nvSpPr>
          <p:cNvPr id="7" name="Text 2">
            <a:extLst>
              <a:ext uri="{FF2B5EF4-FFF2-40B4-BE49-F238E27FC236}">
                <a16:creationId xmlns:a16="http://schemas.microsoft.com/office/drawing/2014/main" id="{265FBD2F-A083-4850-B2C5-6A4D936FD217}"/>
              </a:ext>
            </a:extLst>
          </p:cNvPr>
          <p:cNvSpPr/>
          <p:nvPr/>
        </p:nvSpPr>
        <p:spPr>
          <a:xfrm>
            <a:off x="1015975" y="1339058"/>
            <a:ext cx="10927372" cy="4358358"/>
          </a:xfrm>
          <a:prstGeom prst="rect">
            <a:avLst/>
          </a:prstGeom>
          <a:noFill/>
          <a:ln/>
        </p:spPr>
        <p:txBody>
          <a:bodyPr wrap="square" lIns="0" tIns="0" rIns="0" bIns="0" rtlCol="0" anchor="t"/>
          <a:lstStyle/>
          <a:p>
            <a:pPr marL="0" indent="0" algn="l">
              <a:lnSpc>
                <a:spcPct val="150000"/>
              </a:lnSpc>
              <a:buNone/>
            </a:pPr>
            <a:endParaRPr lang="en-US" sz="1400" dirty="0"/>
          </a:p>
        </p:txBody>
      </p:sp>
      <p:sp>
        <p:nvSpPr>
          <p:cNvPr id="9" name="Text 4">
            <a:extLst>
              <a:ext uri="{FF2B5EF4-FFF2-40B4-BE49-F238E27FC236}">
                <a16:creationId xmlns:a16="http://schemas.microsoft.com/office/drawing/2014/main" id="{EC80FB55-6F45-9A4B-A9B5-E6C699D3761F}"/>
              </a:ext>
            </a:extLst>
          </p:cNvPr>
          <p:cNvSpPr/>
          <p:nvPr/>
        </p:nvSpPr>
        <p:spPr>
          <a:xfrm>
            <a:off x="1086314" y="2694668"/>
            <a:ext cx="10397983" cy="800080"/>
          </a:xfrm>
          <a:prstGeom prst="rect">
            <a:avLst/>
          </a:prstGeom>
          <a:noFill/>
          <a:ln/>
        </p:spPr>
        <p:txBody>
          <a:bodyPr wrap="square" lIns="0" tIns="0" rIns="0" bIns="0" rtlCol="0" anchor="t"/>
          <a:lstStyle/>
          <a:p>
            <a:pPr marL="0" indent="0" algn="l">
              <a:lnSpc>
                <a:spcPct val="150000"/>
              </a:lnSpc>
              <a:buNone/>
            </a:pPr>
            <a:endParaRPr lang="en-US" sz="1400" dirty="0"/>
          </a:p>
        </p:txBody>
      </p:sp>
      <p:sp>
        <p:nvSpPr>
          <p:cNvPr id="14" name="TextBox 13">
            <a:extLst>
              <a:ext uri="{FF2B5EF4-FFF2-40B4-BE49-F238E27FC236}">
                <a16:creationId xmlns:a16="http://schemas.microsoft.com/office/drawing/2014/main" id="{9901B32E-42FF-58E6-C988-09E85D1302CB}"/>
              </a:ext>
            </a:extLst>
          </p:cNvPr>
          <p:cNvSpPr txBox="1"/>
          <p:nvPr/>
        </p:nvSpPr>
        <p:spPr>
          <a:xfrm>
            <a:off x="1015975" y="1601201"/>
            <a:ext cx="9386301" cy="3693319"/>
          </a:xfrm>
          <a:prstGeom prst="rect">
            <a:avLst/>
          </a:prstGeom>
          <a:noFill/>
        </p:spPr>
        <p:txBody>
          <a:bodyPr wrap="square" rtlCol="0">
            <a:spAutoFit/>
          </a:bodyPr>
          <a:lstStyle/>
          <a:p>
            <a:pPr marL="285750" indent="-285750">
              <a:buFont typeface="Arial" panose="020B0604020202020204" pitchFamily="34" charset="0"/>
              <a:buChar char="•"/>
            </a:pPr>
            <a:r>
              <a:rPr lang="en-US" dirty="0"/>
              <a:t>Introduction</a:t>
            </a:r>
          </a:p>
          <a:p>
            <a:pPr marL="285750" indent="-285750">
              <a:buFont typeface="Arial" panose="020B0604020202020204" pitchFamily="34" charset="0"/>
              <a:buChar char="•"/>
            </a:pPr>
            <a:r>
              <a:rPr lang="en-US" dirty="0"/>
              <a:t>Motivation</a:t>
            </a:r>
          </a:p>
          <a:p>
            <a:pPr marL="285750" indent="-285750">
              <a:buFont typeface="Arial" panose="020B0604020202020204" pitchFamily="34" charset="0"/>
              <a:buChar char="•"/>
            </a:pPr>
            <a:r>
              <a:rPr lang="en-US" dirty="0"/>
              <a:t>Objectives</a:t>
            </a:r>
          </a:p>
          <a:p>
            <a:pPr marL="285750" indent="-285750">
              <a:buFont typeface="Arial" panose="020B0604020202020204" pitchFamily="34" charset="0"/>
              <a:buChar char="•"/>
            </a:pPr>
            <a:r>
              <a:rPr lang="en-US" dirty="0"/>
              <a:t>Background</a:t>
            </a:r>
          </a:p>
          <a:p>
            <a:pPr marL="285750" indent="-285750">
              <a:buFont typeface="Arial" panose="020B0604020202020204" pitchFamily="34" charset="0"/>
              <a:buChar char="•"/>
            </a:pPr>
            <a:r>
              <a:rPr lang="en-US" dirty="0"/>
              <a:t>Literature Survey</a:t>
            </a:r>
          </a:p>
          <a:p>
            <a:pPr marL="285750" indent="-285750">
              <a:buFont typeface="Arial" panose="020B0604020202020204" pitchFamily="34" charset="0"/>
              <a:buChar char="•"/>
            </a:pPr>
            <a:r>
              <a:rPr lang="en-US" dirty="0"/>
              <a:t>Feature Comparison</a:t>
            </a:r>
          </a:p>
          <a:p>
            <a:pPr marL="285750" indent="-285750">
              <a:buFont typeface="Arial" panose="020B0604020202020204" pitchFamily="34" charset="0"/>
              <a:buChar char="•"/>
            </a:pPr>
            <a:r>
              <a:rPr lang="en-US" dirty="0"/>
              <a:t>Unique Selling Points</a:t>
            </a:r>
          </a:p>
          <a:p>
            <a:pPr marL="285750" indent="-285750">
              <a:buFont typeface="Arial" panose="020B0604020202020204" pitchFamily="34" charset="0"/>
              <a:buChar char="•"/>
            </a:pPr>
            <a:r>
              <a:rPr lang="en-US" dirty="0"/>
              <a:t>Methodology</a:t>
            </a:r>
          </a:p>
          <a:p>
            <a:pPr marL="285750" indent="-285750">
              <a:buFont typeface="Arial" panose="020B0604020202020204" pitchFamily="34" charset="0"/>
              <a:buChar char="•"/>
            </a:pPr>
            <a:r>
              <a:rPr lang="en-US" dirty="0"/>
              <a:t>Implementation</a:t>
            </a:r>
          </a:p>
          <a:p>
            <a:pPr marL="285750" indent="-285750">
              <a:buFont typeface="Arial" panose="020B0604020202020204" pitchFamily="34" charset="0"/>
              <a:buChar char="•"/>
            </a:pPr>
            <a:r>
              <a:rPr lang="en-US" dirty="0"/>
              <a:t>Results</a:t>
            </a:r>
          </a:p>
          <a:p>
            <a:pPr marL="285750" indent="-285750">
              <a:buFont typeface="Arial" panose="020B0604020202020204" pitchFamily="34" charset="0"/>
              <a:buChar char="•"/>
            </a:pPr>
            <a:r>
              <a:rPr lang="en-US" dirty="0"/>
              <a:t>Conclusion</a:t>
            </a:r>
          </a:p>
          <a:p>
            <a:pPr marL="285750" indent="-285750">
              <a:buFont typeface="Arial" panose="020B0604020202020204" pitchFamily="34" charset="0"/>
              <a:buChar char="•"/>
            </a:pPr>
            <a:r>
              <a:rPr lang="en-US" dirty="0"/>
              <a:t>Future Scope</a:t>
            </a:r>
          </a:p>
          <a:p>
            <a:pPr marL="285750" indent="-285750">
              <a:buFont typeface="Arial" panose="020B0604020202020204" pitchFamily="34" charset="0"/>
              <a:buChar char="•"/>
            </a:pPr>
            <a:r>
              <a:rPr lang="en-US" dirty="0"/>
              <a:t>References</a:t>
            </a:r>
          </a:p>
        </p:txBody>
      </p:sp>
    </p:spTree>
    <p:extLst>
      <p:ext uri="{BB962C8B-B14F-4D97-AF65-F5344CB8AC3E}">
        <p14:creationId xmlns:p14="http://schemas.microsoft.com/office/powerpoint/2010/main" val="235138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8889778" y="507987"/>
            <a:ext cx="1523962" cy="1269968"/>
          </a:xfrm>
          <a:prstGeom prst="rect">
            <a:avLst/>
          </a:prstGeom>
        </p:spPr>
      </p:pic>
      <p:pic>
        <p:nvPicPr>
          <p:cNvPr id="3" name="Image 1" descr="preencoded.png"/>
          <p:cNvPicPr>
            <a:picLocks noChangeAspect="1"/>
          </p:cNvPicPr>
          <p:nvPr/>
        </p:nvPicPr>
        <p:blipFill>
          <a:blip r:embed="rId4"/>
          <a:srcRect/>
          <a:stretch/>
        </p:blipFill>
        <p:spPr>
          <a:xfrm>
            <a:off x="8381790" y="4571886"/>
            <a:ext cx="3764185" cy="2240394"/>
          </a:xfrm>
          <a:prstGeom prst="rect">
            <a:avLst/>
          </a:prstGeom>
        </p:spPr>
      </p:pic>
      <p:pic>
        <p:nvPicPr>
          <p:cNvPr id="4" name="Image 2" descr="preencoded.png"/>
          <p:cNvPicPr>
            <a:picLocks noChangeAspect="1"/>
          </p:cNvPicPr>
          <p:nvPr/>
        </p:nvPicPr>
        <p:blipFill>
          <a:blip r:embed="rId5"/>
          <a:srcRect/>
          <a:stretch/>
        </p:blipFill>
        <p:spPr>
          <a:xfrm>
            <a:off x="0" y="4952876"/>
            <a:ext cx="4063898" cy="1859404"/>
          </a:xfrm>
          <a:prstGeom prst="rect">
            <a:avLst/>
          </a:prstGeom>
        </p:spPr>
      </p:pic>
      <p:pic>
        <p:nvPicPr>
          <p:cNvPr id="5" name="Image 3" descr="preencoded.png"/>
          <p:cNvPicPr>
            <a:picLocks noChangeAspect="1"/>
          </p:cNvPicPr>
          <p:nvPr/>
        </p:nvPicPr>
        <p:blipFill>
          <a:blip r:embed="rId6"/>
          <a:srcRect/>
          <a:stretch/>
        </p:blipFill>
        <p:spPr>
          <a:xfrm>
            <a:off x="8381790" y="0"/>
            <a:ext cx="3764185" cy="2285943"/>
          </a:xfrm>
          <a:prstGeom prst="rect">
            <a:avLst/>
          </a:prstGeom>
        </p:spPr>
      </p:pic>
      <p:pic>
        <p:nvPicPr>
          <p:cNvPr id="6" name="Image 4" descr="preencoded.png"/>
          <p:cNvPicPr>
            <a:picLocks noChangeAspect="1"/>
          </p:cNvPicPr>
          <p:nvPr/>
        </p:nvPicPr>
        <p:blipFill>
          <a:blip r:embed="rId7"/>
          <a:srcRect/>
          <a:stretch/>
        </p:blipFill>
        <p:spPr>
          <a:xfrm>
            <a:off x="0" y="0"/>
            <a:ext cx="3809905" cy="1904952"/>
          </a:xfrm>
          <a:prstGeom prst="rect">
            <a:avLst/>
          </a:prstGeom>
        </p:spPr>
      </p:pic>
      <p:sp>
        <p:nvSpPr>
          <p:cNvPr id="7" name="Text 0"/>
          <p:cNvSpPr/>
          <p:nvPr/>
        </p:nvSpPr>
        <p:spPr>
          <a:xfrm>
            <a:off x="2031949" y="2539937"/>
            <a:ext cx="8127797" cy="1142971"/>
          </a:xfrm>
          <a:prstGeom prst="rect">
            <a:avLst/>
          </a:prstGeom>
          <a:noFill/>
          <a:ln/>
        </p:spPr>
        <p:txBody>
          <a:bodyPr wrap="square" lIns="0" tIns="0" rIns="0" bIns="0" rtlCol="0" anchor="t"/>
          <a:lstStyle/>
          <a:p>
            <a:pPr marL="0" indent="0" algn="ctr">
              <a:lnSpc>
                <a:spcPct val="120000"/>
              </a:lnSpc>
              <a:buNone/>
            </a:pPr>
            <a:r>
              <a:rPr lang="en-US" sz="3000" b="1" dirty="0">
                <a:latin typeface="Calibri" pitchFamily="34" charset="0"/>
                <a:ea typeface="Calibri" pitchFamily="34" charset="-122"/>
                <a:cs typeface="Calibri" pitchFamily="34" charset="-120"/>
              </a:rPr>
              <a:t>Introduction</a:t>
            </a:r>
            <a:endParaRPr lang="en-US" sz="3000" dirty="0"/>
          </a:p>
        </p:txBody>
      </p:sp>
      <p:sp>
        <p:nvSpPr>
          <p:cNvPr id="8" name="Text 1"/>
          <p:cNvSpPr/>
          <p:nvPr/>
        </p:nvSpPr>
        <p:spPr>
          <a:xfrm>
            <a:off x="2362200" y="3562497"/>
            <a:ext cx="7581900" cy="2666932"/>
          </a:xfrm>
          <a:prstGeom prst="rect">
            <a:avLst/>
          </a:prstGeom>
          <a:noFill/>
          <a:ln/>
        </p:spPr>
        <p:txBody>
          <a:bodyPr wrap="square" lIns="0" tIns="0" rIns="0" bIns="0" rtlCol="0" anchor="t"/>
          <a:lstStyle/>
          <a:p>
            <a:pPr marL="0" indent="0" algn="just">
              <a:lnSpc>
                <a:spcPct val="150000"/>
              </a:lnSpc>
              <a:buNone/>
            </a:pPr>
            <a:r>
              <a:rPr lang="en-US" sz="1400" dirty="0">
                <a:latin typeface="Calibri" pitchFamily="34" charset="0"/>
                <a:ea typeface="Calibri" pitchFamily="34" charset="-122"/>
                <a:cs typeface="Calibri" pitchFamily="34" charset="-120"/>
              </a:rPr>
              <a:t>Fired Chat is a revolutionary privacy-centric web-based communication platform designed for secure and private text messaging and video interactions. It leverages modern technologies to ensure user privacy by storing data locally in the browser, eliminating risks associated with centralized servers and databases. This platform not only facilitates seamless communication but also integrates AI features for enhanced user engagement. By prioritizing user control and data security, Fired Chat sets a new standard for real-time communication tools in today's digital landscape.
</a:t>
            </a:r>
            <a:endParaRPr lang="en-US" sz="1400" dirty="0"/>
          </a:p>
        </p:txBody>
      </p:sp>
      <p:sp>
        <p:nvSpPr>
          <p:cNvPr id="10" name="Text 2"/>
          <p:cNvSpPr/>
          <p:nvPr/>
        </p:nvSpPr>
        <p:spPr>
          <a:xfrm>
            <a:off x="10667733" y="6222844"/>
            <a:ext cx="1079473" cy="380990"/>
          </a:xfrm>
          <a:prstGeom prst="rect">
            <a:avLst/>
          </a:prstGeom>
          <a:noFill/>
          <a:ln/>
        </p:spPr>
        <p:txBody>
          <a:bodyPr wrap="square" lIns="0" tIns="0" rIns="0" bIns="0" rtlCol="0" anchor="t"/>
          <a:lstStyle/>
          <a:p>
            <a:pPr marL="0" indent="0" algn="l">
              <a:lnSpc>
                <a:spcPct val="120000"/>
              </a:lnSpc>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p:cNvPicPr>
            <a:picLocks noChangeAspect="1"/>
          </p:cNvPicPr>
          <p:nvPr/>
        </p:nvPicPr>
        <p:blipFill>
          <a:blip r:embed="rId5"/>
          <a:srcRect/>
          <a:stretch/>
        </p:blipFill>
        <p:spPr>
          <a:xfrm>
            <a:off x="8381790" y="0"/>
            <a:ext cx="3764185" cy="2031949"/>
          </a:xfrm>
          <a:prstGeom prst="rect">
            <a:avLst/>
          </a:prstGeom>
        </p:spPr>
      </p:pic>
      <p:sp>
        <p:nvSpPr>
          <p:cNvPr id="5" name="Text 0"/>
          <p:cNvSpPr/>
          <p:nvPr/>
        </p:nvSpPr>
        <p:spPr>
          <a:xfrm>
            <a:off x="1015970" y="900138"/>
            <a:ext cx="10159746" cy="888978"/>
          </a:xfrm>
          <a:prstGeom prst="rect">
            <a:avLst/>
          </a:prstGeom>
          <a:noFill/>
          <a:ln/>
        </p:spPr>
        <p:txBody>
          <a:bodyPr wrap="square" lIns="0" tIns="0" rIns="0" bIns="0" rtlCol="0" anchor="t"/>
          <a:lstStyle/>
          <a:p>
            <a:pPr marL="0" indent="0" algn="l">
              <a:lnSpc>
                <a:spcPct val="120000"/>
              </a:lnSpc>
              <a:buNone/>
            </a:pPr>
            <a:r>
              <a:rPr lang="en-US" sz="3000" b="1" dirty="0">
                <a:solidFill>
                  <a:srgbClr val="2D3436"/>
                </a:solidFill>
                <a:latin typeface="Calibri" pitchFamily="34" charset="0"/>
                <a:ea typeface="Calibri" pitchFamily="34" charset="-122"/>
                <a:cs typeface="Calibri" pitchFamily="34" charset="-120"/>
              </a:rPr>
              <a:t>Motivation 
</a:t>
            </a:r>
            <a:endParaRPr lang="en-US" sz="3000" dirty="0"/>
          </a:p>
        </p:txBody>
      </p:sp>
      <p:pic>
        <p:nvPicPr>
          <p:cNvPr id="6" name="Image 3" descr="preencoded.png"/>
          <p:cNvPicPr>
            <a:picLocks noChangeAspect="1"/>
          </p:cNvPicPr>
          <p:nvPr/>
        </p:nvPicPr>
        <p:blipFill>
          <a:blip r:embed="rId6"/>
          <a:srcRect/>
          <a:stretch/>
        </p:blipFill>
        <p:spPr>
          <a:xfrm>
            <a:off x="1015975" y="2230843"/>
            <a:ext cx="571486" cy="444489"/>
          </a:xfrm>
          <a:prstGeom prst="rect">
            <a:avLst/>
          </a:prstGeom>
        </p:spPr>
      </p:pic>
      <p:sp>
        <p:nvSpPr>
          <p:cNvPr id="7" name="Text 1"/>
          <p:cNvSpPr/>
          <p:nvPr/>
        </p:nvSpPr>
        <p:spPr>
          <a:xfrm>
            <a:off x="1841449" y="2263813"/>
            <a:ext cx="9334267" cy="380990"/>
          </a:xfrm>
          <a:prstGeom prst="rect">
            <a:avLst/>
          </a:prstGeom>
          <a:noFill/>
          <a:ln/>
        </p:spPr>
        <p:txBody>
          <a:bodyPr wrap="square" lIns="0" tIns="0" rIns="0" bIns="0" rtlCol="0" anchor="t"/>
          <a:lstStyle/>
          <a:p>
            <a:pPr marL="0" indent="0" algn="l">
              <a:lnSpc>
                <a:spcPct val="120000"/>
              </a:lnSpc>
              <a:buNone/>
            </a:pPr>
            <a:r>
              <a:rPr lang="en-US" sz="1600" b="1" dirty="0">
                <a:solidFill>
                  <a:srgbClr val="7DB9A8"/>
                </a:solidFill>
                <a:latin typeface="Calibri" pitchFamily="34" charset="0"/>
                <a:ea typeface="Calibri" pitchFamily="34" charset="-122"/>
                <a:cs typeface="Calibri" pitchFamily="34" charset="-120"/>
              </a:rPr>
              <a:t>USER-CENTRIC COMMUNICATION NEED
</a:t>
            </a:r>
            <a:endParaRPr lang="en-US" sz="1600" dirty="0"/>
          </a:p>
        </p:txBody>
      </p:sp>
      <p:sp>
        <p:nvSpPr>
          <p:cNvPr id="8" name="Text 2"/>
          <p:cNvSpPr/>
          <p:nvPr/>
        </p:nvSpPr>
        <p:spPr>
          <a:xfrm>
            <a:off x="1841454" y="2498663"/>
            <a:ext cx="9334267" cy="1066773"/>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As digital interactions grow, users increasingly seek platforms that prioritize their privacy and control over personal data,</a:t>
            </a:r>
            <a:br>
              <a:rPr lang="en-US" sz="1400" dirty="0">
                <a:latin typeface="Calibri" pitchFamily="34" charset="0"/>
                <a:ea typeface="Calibri" pitchFamily="34" charset="-122"/>
                <a:cs typeface="Calibri" pitchFamily="34" charset="-120"/>
              </a:rPr>
            </a:br>
            <a:r>
              <a:rPr lang="en-US" sz="1400" dirty="0">
                <a:latin typeface="Calibri" pitchFamily="34" charset="0"/>
                <a:ea typeface="Calibri" pitchFamily="34" charset="-122"/>
                <a:cs typeface="Calibri" pitchFamily="34" charset="-120"/>
              </a:rPr>
              <a:t>ensuring a secure communication environment.
</a:t>
            </a:r>
            <a:endParaRPr lang="en-US" sz="1400" dirty="0"/>
          </a:p>
        </p:txBody>
      </p:sp>
      <p:pic>
        <p:nvPicPr>
          <p:cNvPr id="9" name="Image 4" descr="preencoded.png"/>
          <p:cNvPicPr>
            <a:picLocks noChangeAspect="1"/>
          </p:cNvPicPr>
          <p:nvPr/>
        </p:nvPicPr>
        <p:blipFill>
          <a:blip r:embed="rId7"/>
          <a:srcRect/>
          <a:stretch/>
        </p:blipFill>
        <p:spPr>
          <a:xfrm>
            <a:off x="1015975" y="3295568"/>
            <a:ext cx="571486" cy="444489"/>
          </a:xfrm>
          <a:prstGeom prst="rect">
            <a:avLst/>
          </a:prstGeom>
        </p:spPr>
      </p:pic>
      <p:sp>
        <p:nvSpPr>
          <p:cNvPr id="10" name="Text 3"/>
          <p:cNvSpPr/>
          <p:nvPr/>
        </p:nvSpPr>
        <p:spPr>
          <a:xfrm>
            <a:off x="1841453" y="3331414"/>
            <a:ext cx="9334267" cy="380990"/>
          </a:xfrm>
          <a:prstGeom prst="rect">
            <a:avLst/>
          </a:prstGeom>
          <a:noFill/>
          <a:ln/>
        </p:spPr>
        <p:txBody>
          <a:bodyPr wrap="square" lIns="0" tIns="0" rIns="0" bIns="0" rtlCol="0" anchor="t"/>
          <a:lstStyle/>
          <a:p>
            <a:pPr marL="0" indent="0" algn="l">
              <a:lnSpc>
                <a:spcPct val="120000"/>
              </a:lnSpc>
              <a:buNone/>
            </a:pPr>
            <a:r>
              <a:rPr lang="en-US" sz="1600" b="1" dirty="0">
                <a:solidFill>
                  <a:srgbClr val="FF6B35"/>
                </a:solidFill>
                <a:latin typeface="Calibri" pitchFamily="34" charset="0"/>
                <a:ea typeface="Calibri" pitchFamily="34" charset="-122"/>
                <a:cs typeface="Calibri" pitchFamily="34" charset="-120"/>
              </a:rPr>
              <a:t>PRIVACY BREACH CONCERNS
</a:t>
            </a:r>
            <a:endParaRPr lang="en-US" sz="1600" dirty="0"/>
          </a:p>
        </p:txBody>
      </p:sp>
      <p:sp>
        <p:nvSpPr>
          <p:cNvPr id="11" name="Text 4"/>
          <p:cNvSpPr/>
          <p:nvPr/>
        </p:nvSpPr>
        <p:spPr>
          <a:xfrm>
            <a:off x="1841452" y="3540958"/>
            <a:ext cx="9334267" cy="1066773"/>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Traditional platforms often store user data on centralized servers, leading to significant privacy risks, including unauthorized access and data breaches that undermine user trust.</a:t>
            </a:r>
            <a:endParaRPr lang="en-US" sz="1400" dirty="0"/>
          </a:p>
        </p:txBody>
      </p:sp>
      <p:pic>
        <p:nvPicPr>
          <p:cNvPr id="12" name="Image 5" descr="preencoded.png"/>
          <p:cNvPicPr>
            <a:picLocks noChangeAspect="1"/>
          </p:cNvPicPr>
          <p:nvPr/>
        </p:nvPicPr>
        <p:blipFill>
          <a:blip r:embed="rId8"/>
          <a:srcRect/>
          <a:stretch/>
        </p:blipFill>
        <p:spPr>
          <a:xfrm>
            <a:off x="1015975" y="4330592"/>
            <a:ext cx="571486" cy="444489"/>
          </a:xfrm>
          <a:prstGeom prst="rect">
            <a:avLst/>
          </a:prstGeom>
        </p:spPr>
      </p:pic>
      <p:sp>
        <p:nvSpPr>
          <p:cNvPr id="13" name="Text 5"/>
          <p:cNvSpPr/>
          <p:nvPr/>
        </p:nvSpPr>
        <p:spPr>
          <a:xfrm>
            <a:off x="1841450" y="4344308"/>
            <a:ext cx="9334267" cy="380990"/>
          </a:xfrm>
          <a:prstGeom prst="rect">
            <a:avLst/>
          </a:prstGeom>
          <a:noFill/>
          <a:ln/>
        </p:spPr>
        <p:txBody>
          <a:bodyPr wrap="square" lIns="0" tIns="0" rIns="0" bIns="0" rtlCol="0" anchor="t"/>
          <a:lstStyle/>
          <a:p>
            <a:pPr marL="0" indent="0" algn="l">
              <a:lnSpc>
                <a:spcPct val="120000"/>
              </a:lnSpc>
              <a:buNone/>
            </a:pPr>
            <a:r>
              <a:rPr lang="en-US" sz="1600" b="1" dirty="0">
                <a:solidFill>
                  <a:srgbClr val="F7B801"/>
                </a:solidFill>
                <a:latin typeface="Calibri" pitchFamily="34" charset="0"/>
                <a:ea typeface="Calibri" pitchFamily="34" charset="-122"/>
                <a:cs typeface="Calibri" pitchFamily="34" charset="-120"/>
              </a:rPr>
              <a:t>DEMAND FOR DATA CONTROL
</a:t>
            </a:r>
            <a:endParaRPr lang="en-US" sz="1600" dirty="0"/>
          </a:p>
        </p:txBody>
      </p:sp>
      <p:sp>
        <p:nvSpPr>
          <p:cNvPr id="14" name="Text 6"/>
          <p:cNvSpPr/>
          <p:nvPr/>
        </p:nvSpPr>
        <p:spPr>
          <a:xfrm>
            <a:off x="1841454" y="4548551"/>
            <a:ext cx="9334267" cy="1066773"/>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Users are demanding more control over their data, seeking platforms that allow them to manage, store, and delete their information without relying on external servers.
</a:t>
            </a:r>
            <a:endParaRPr lang="en-US" sz="1400" dirty="0"/>
          </a:p>
        </p:txBody>
      </p:sp>
      <p:pic>
        <p:nvPicPr>
          <p:cNvPr id="15" name="Image 6" descr="preencoded.png"/>
          <p:cNvPicPr>
            <a:picLocks noChangeAspect="1"/>
          </p:cNvPicPr>
          <p:nvPr/>
        </p:nvPicPr>
        <p:blipFill>
          <a:blip r:embed="rId6"/>
          <a:srcRect/>
          <a:stretch/>
        </p:blipFill>
        <p:spPr>
          <a:xfrm>
            <a:off x="1015975" y="5365616"/>
            <a:ext cx="571486" cy="444489"/>
          </a:xfrm>
          <a:prstGeom prst="rect">
            <a:avLst/>
          </a:prstGeom>
        </p:spPr>
      </p:pic>
      <p:sp>
        <p:nvSpPr>
          <p:cNvPr id="16" name="Text 7"/>
          <p:cNvSpPr/>
          <p:nvPr/>
        </p:nvSpPr>
        <p:spPr>
          <a:xfrm>
            <a:off x="1841454" y="5386603"/>
            <a:ext cx="9334267" cy="380990"/>
          </a:xfrm>
          <a:prstGeom prst="rect">
            <a:avLst/>
          </a:prstGeom>
          <a:noFill/>
          <a:ln/>
        </p:spPr>
        <p:txBody>
          <a:bodyPr wrap="square" lIns="0" tIns="0" rIns="0" bIns="0" rtlCol="0" anchor="t"/>
          <a:lstStyle/>
          <a:p>
            <a:pPr marL="0" indent="0" algn="l">
              <a:lnSpc>
                <a:spcPct val="120000"/>
              </a:lnSpc>
              <a:buNone/>
            </a:pPr>
            <a:r>
              <a:rPr lang="en-US" sz="1600" b="1" dirty="0">
                <a:solidFill>
                  <a:srgbClr val="7DB9A8"/>
                </a:solidFill>
                <a:latin typeface="Calibri" pitchFamily="34" charset="0"/>
                <a:ea typeface="Calibri" pitchFamily="34" charset="-122"/>
                <a:cs typeface="Calibri" pitchFamily="34" charset="-120"/>
              </a:rPr>
              <a:t>AI INTEGRATION FOR ENGAGEMENT
</a:t>
            </a:r>
            <a:endParaRPr lang="en-US" sz="1600" dirty="0"/>
          </a:p>
        </p:txBody>
      </p:sp>
      <p:sp>
        <p:nvSpPr>
          <p:cNvPr id="17" name="Text 8"/>
          <p:cNvSpPr/>
          <p:nvPr/>
        </p:nvSpPr>
        <p:spPr>
          <a:xfrm>
            <a:off x="1841454" y="5617520"/>
            <a:ext cx="9334267" cy="1066773"/>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The integration of AI in communication tools enhances user engagement, providing instant support and explanations, thereby improving overall user experience and satisfaction.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p:cNvPicPr>
            <a:picLocks noChangeAspect="1"/>
          </p:cNvPicPr>
          <p:nvPr/>
        </p:nvPicPr>
        <p:blipFill>
          <a:blip r:embed="rId5"/>
          <a:srcRect/>
          <a:stretch/>
        </p:blipFill>
        <p:spPr>
          <a:xfrm>
            <a:off x="8381790" y="0"/>
            <a:ext cx="3764185" cy="2031949"/>
          </a:xfrm>
          <a:prstGeom prst="rect">
            <a:avLst/>
          </a:prstGeom>
        </p:spPr>
      </p:pic>
      <p:sp>
        <p:nvSpPr>
          <p:cNvPr id="5" name="Text 0"/>
          <p:cNvSpPr/>
          <p:nvPr/>
        </p:nvSpPr>
        <p:spPr>
          <a:xfrm>
            <a:off x="1015975" y="634984"/>
            <a:ext cx="10159746" cy="888978"/>
          </a:xfrm>
          <a:prstGeom prst="rect">
            <a:avLst/>
          </a:prstGeom>
          <a:noFill/>
          <a:ln/>
        </p:spPr>
        <p:txBody>
          <a:bodyPr wrap="square" lIns="0" tIns="0" rIns="0" bIns="0" rtlCol="0" anchor="t"/>
          <a:lstStyle/>
          <a:p>
            <a:pPr marL="0" indent="0" algn="l">
              <a:lnSpc>
                <a:spcPct val="120000"/>
              </a:lnSpc>
              <a:buNone/>
            </a:pPr>
            <a:r>
              <a:rPr lang="en-US" sz="3000" b="1" dirty="0">
                <a:latin typeface="Calibri" pitchFamily="34" charset="0"/>
                <a:ea typeface="Calibri" pitchFamily="34" charset="-122"/>
                <a:cs typeface="Calibri" pitchFamily="34" charset="-120"/>
              </a:rPr>
              <a:t>Objectives
</a:t>
            </a:r>
            <a:endParaRPr lang="en-US" sz="3000" dirty="0"/>
          </a:p>
        </p:txBody>
      </p:sp>
      <p:sp>
        <p:nvSpPr>
          <p:cNvPr id="6" name="Text 1"/>
          <p:cNvSpPr/>
          <p:nvPr/>
        </p:nvSpPr>
        <p:spPr>
          <a:xfrm>
            <a:off x="1015975" y="1579101"/>
            <a:ext cx="10159746" cy="482588"/>
          </a:xfrm>
          <a:prstGeom prst="rect">
            <a:avLst/>
          </a:prstGeom>
          <a:noFill/>
          <a:ln/>
        </p:spPr>
        <p:txBody>
          <a:bodyPr wrap="square" lIns="0" tIns="0" rIns="0" bIns="0" rtlCol="0" anchor="t"/>
          <a:lstStyle/>
          <a:p>
            <a:pPr marL="0" indent="0" algn="l">
              <a:lnSpc>
                <a:spcPct val="120000"/>
              </a:lnSpc>
              <a:buNone/>
            </a:pPr>
            <a:r>
              <a:rPr lang="en-US" sz="1600" b="1" dirty="0">
                <a:latin typeface="Calibri" pitchFamily="34" charset="0"/>
                <a:ea typeface="Calibri" pitchFamily="34" charset="-122"/>
                <a:cs typeface="Calibri" pitchFamily="34" charset="-120"/>
              </a:rPr>
              <a:t>1. Real-Time, Privacy Centric Communication
</a:t>
            </a:r>
            <a:endParaRPr lang="en-US" sz="1600" dirty="0"/>
          </a:p>
        </p:txBody>
      </p:sp>
      <p:sp>
        <p:nvSpPr>
          <p:cNvPr id="7" name="Text 2"/>
          <p:cNvSpPr/>
          <p:nvPr/>
        </p:nvSpPr>
        <p:spPr>
          <a:xfrm>
            <a:off x="1015975" y="1891002"/>
            <a:ext cx="10927372" cy="1066773"/>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Develop a real-time chat platform that prioritizes user privacy by eliminating server-side message storage, ensuring secure and instant communication.
</a:t>
            </a:r>
            <a:endParaRPr lang="en-US" sz="1400" dirty="0"/>
          </a:p>
        </p:txBody>
      </p:sp>
      <p:sp>
        <p:nvSpPr>
          <p:cNvPr id="8" name="Text 3"/>
          <p:cNvSpPr/>
          <p:nvPr/>
        </p:nvSpPr>
        <p:spPr>
          <a:xfrm>
            <a:off x="1015975" y="2456567"/>
            <a:ext cx="10159746" cy="482588"/>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Calibri" pitchFamily="34" charset="0"/>
                <a:ea typeface="Calibri" pitchFamily="34" charset="-122"/>
                <a:cs typeface="Calibri" pitchFamily="34" charset="-120"/>
              </a:rPr>
              <a:t>2. Dynamic Room Management</a:t>
            </a:r>
            <a:endParaRPr lang="en-US" sz="1600" dirty="0"/>
          </a:p>
        </p:txBody>
      </p:sp>
      <p:sp>
        <p:nvSpPr>
          <p:cNvPr id="9" name="Text 4"/>
          <p:cNvSpPr/>
          <p:nvPr/>
        </p:nvSpPr>
        <p:spPr>
          <a:xfrm>
            <a:off x="1015975" y="2799502"/>
            <a:ext cx="10397983" cy="800080"/>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Implement features for dynamic room creation and deletion, allowing users to manage their communication spaces effortlessly and intuitively.
</a:t>
            </a:r>
            <a:endParaRPr lang="en-US" sz="1400" dirty="0"/>
          </a:p>
        </p:txBody>
      </p:sp>
      <p:sp>
        <p:nvSpPr>
          <p:cNvPr id="10" name="Text 5"/>
          <p:cNvSpPr/>
          <p:nvPr/>
        </p:nvSpPr>
        <p:spPr>
          <a:xfrm>
            <a:off x="1015975" y="3364040"/>
            <a:ext cx="10159746" cy="312928"/>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Calibri" pitchFamily="34" charset="0"/>
                <a:ea typeface="Calibri" pitchFamily="34" charset="-122"/>
                <a:cs typeface="Calibri" pitchFamily="34" charset="-120"/>
              </a:rPr>
              <a:t>3. Cross-Device Compatibility
</a:t>
            </a:r>
            <a:endParaRPr lang="en-US" sz="1600" dirty="0"/>
          </a:p>
        </p:txBody>
      </p:sp>
      <p:sp>
        <p:nvSpPr>
          <p:cNvPr id="11" name="Text 6"/>
          <p:cNvSpPr/>
          <p:nvPr/>
        </p:nvSpPr>
        <p:spPr>
          <a:xfrm>
            <a:off x="1015975" y="3718573"/>
            <a:ext cx="10815078" cy="800080"/>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Ensure a responsive design that provides seamless access across various devices, enhancing user experience on both desktop and mobile platforms.
</a:t>
            </a:r>
            <a:endParaRPr lang="en-US" sz="1400" dirty="0"/>
          </a:p>
        </p:txBody>
      </p:sp>
      <p:sp>
        <p:nvSpPr>
          <p:cNvPr id="12" name="Text 7"/>
          <p:cNvSpPr/>
          <p:nvPr/>
        </p:nvSpPr>
        <p:spPr>
          <a:xfrm>
            <a:off x="1015975" y="4257237"/>
            <a:ext cx="10159746" cy="482588"/>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Calibri" pitchFamily="34" charset="0"/>
                <a:ea typeface="Calibri" pitchFamily="34" charset="-122"/>
                <a:cs typeface="Calibri" pitchFamily="34" charset="-120"/>
              </a:rPr>
              <a:t>4. AI-Powered Interactions
</a:t>
            </a:r>
            <a:endParaRPr lang="en-US" sz="1600" dirty="0"/>
          </a:p>
        </p:txBody>
      </p:sp>
      <p:sp>
        <p:nvSpPr>
          <p:cNvPr id="13" name="Text 8"/>
          <p:cNvSpPr/>
          <p:nvPr/>
        </p:nvSpPr>
        <p:spPr>
          <a:xfrm>
            <a:off x="1015975" y="4630222"/>
            <a:ext cx="10159746" cy="800080"/>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Utilize AI to enhance user interactions, including a chatbot for assistance and a built-in tool for explaining complex terms instantly.
</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p:cNvPicPr>
            <a:picLocks noChangeAspect="1"/>
          </p:cNvPicPr>
          <p:nvPr/>
        </p:nvPicPr>
        <p:blipFill>
          <a:blip r:embed="rId5"/>
          <a:srcRect/>
          <a:stretch/>
        </p:blipFill>
        <p:spPr>
          <a:xfrm>
            <a:off x="8381790" y="0"/>
            <a:ext cx="3764185" cy="2031949"/>
          </a:xfrm>
          <a:prstGeom prst="rect">
            <a:avLst/>
          </a:prstGeom>
        </p:spPr>
      </p:pic>
      <p:sp>
        <p:nvSpPr>
          <p:cNvPr id="5" name="Text 0"/>
          <p:cNvSpPr/>
          <p:nvPr/>
        </p:nvSpPr>
        <p:spPr>
          <a:xfrm>
            <a:off x="1015975" y="634984"/>
            <a:ext cx="10159746" cy="888978"/>
          </a:xfrm>
          <a:prstGeom prst="rect">
            <a:avLst/>
          </a:prstGeom>
          <a:noFill/>
          <a:ln/>
        </p:spPr>
        <p:txBody>
          <a:bodyPr wrap="square" lIns="0" tIns="0" rIns="0" bIns="0" rtlCol="0" anchor="t"/>
          <a:lstStyle/>
          <a:p>
            <a:pPr marL="0" indent="0" algn="l">
              <a:lnSpc>
                <a:spcPct val="120000"/>
              </a:lnSpc>
              <a:buNone/>
            </a:pPr>
            <a:r>
              <a:rPr lang="en-US" sz="3000" b="1" dirty="0">
                <a:latin typeface="Calibri" pitchFamily="34" charset="0"/>
                <a:ea typeface="Calibri" pitchFamily="34" charset="-122"/>
                <a:cs typeface="Calibri" pitchFamily="34" charset="-120"/>
              </a:rPr>
              <a:t>Background 
</a:t>
            </a:r>
            <a:endParaRPr lang="en-US" sz="3000" dirty="0"/>
          </a:p>
        </p:txBody>
      </p:sp>
      <p:sp>
        <p:nvSpPr>
          <p:cNvPr id="6" name="Text 1"/>
          <p:cNvSpPr/>
          <p:nvPr/>
        </p:nvSpPr>
        <p:spPr>
          <a:xfrm>
            <a:off x="1015975" y="2209745"/>
            <a:ext cx="3115655" cy="698483"/>
          </a:xfrm>
          <a:prstGeom prst="rect">
            <a:avLst/>
          </a:prstGeom>
          <a:noFill/>
          <a:ln/>
        </p:spPr>
        <p:txBody>
          <a:bodyPr wrap="square" lIns="0" tIns="0" rIns="0" bIns="0" rtlCol="0" anchor="t"/>
          <a:lstStyle/>
          <a:p>
            <a:pPr marL="0" indent="0" algn="l">
              <a:lnSpc>
                <a:spcPct val="120000"/>
              </a:lnSpc>
              <a:buNone/>
            </a:pPr>
            <a:r>
              <a:rPr lang="en-US" sz="1600" b="1" dirty="0">
                <a:latin typeface="Calibri" pitchFamily="34" charset="0"/>
                <a:ea typeface="Calibri" pitchFamily="34" charset="-122"/>
                <a:cs typeface="Calibri" pitchFamily="34" charset="-120"/>
              </a:rPr>
              <a:t>Privacy Risks of Centralization
</a:t>
            </a:r>
            <a:endParaRPr lang="en-US" sz="1600" dirty="0"/>
          </a:p>
        </p:txBody>
      </p:sp>
      <p:sp>
        <p:nvSpPr>
          <p:cNvPr id="7" name="Text 2"/>
          <p:cNvSpPr/>
          <p:nvPr/>
        </p:nvSpPr>
        <p:spPr>
          <a:xfrm>
            <a:off x="1015974" y="2635185"/>
            <a:ext cx="3115655" cy="1663659"/>
          </a:xfrm>
          <a:prstGeom prst="rect">
            <a:avLst/>
          </a:prstGeom>
          <a:noFill/>
          <a:ln/>
        </p:spPr>
        <p:txBody>
          <a:bodyPr wrap="square" lIns="0" tIns="0" rIns="0" bIns="0" rtlCol="0" anchor="t"/>
          <a:lstStyle/>
          <a:p>
            <a:pPr marL="0" indent="0" algn="l">
              <a:lnSpc>
                <a:spcPct val="160000"/>
              </a:lnSpc>
              <a:buNone/>
            </a:pPr>
            <a:r>
              <a:rPr lang="en-US" sz="1400" dirty="0">
                <a:latin typeface="Calibri" pitchFamily="34" charset="0"/>
                <a:ea typeface="Calibri" pitchFamily="34" charset="-122"/>
                <a:cs typeface="Calibri" pitchFamily="34" charset="-120"/>
              </a:rPr>
              <a:t>Centralized servers &amp; databases often store user messages, increasing risks of data breaches and unauthorized access, leading to growing concerns over user privacy.
</a:t>
            </a:r>
            <a:endParaRPr lang="en-US" sz="1400" dirty="0"/>
          </a:p>
        </p:txBody>
      </p:sp>
      <p:sp>
        <p:nvSpPr>
          <p:cNvPr id="8" name="Shape 3"/>
          <p:cNvSpPr/>
          <p:nvPr/>
        </p:nvSpPr>
        <p:spPr>
          <a:xfrm>
            <a:off x="980774" y="4549662"/>
            <a:ext cx="1015975" cy="76198"/>
          </a:xfrm>
          <a:prstGeom prst="rect">
            <a:avLst/>
          </a:prstGeom>
          <a:solidFill>
            <a:srgbClr val="FF6B35"/>
          </a:solidFill>
          <a:ln/>
        </p:spPr>
        <p:txBody>
          <a:bodyPr/>
          <a:lstStyle/>
          <a:p>
            <a:endParaRPr lang="en-IN"/>
          </a:p>
        </p:txBody>
      </p:sp>
      <p:sp>
        <p:nvSpPr>
          <p:cNvPr id="9" name="Text 4"/>
          <p:cNvSpPr/>
          <p:nvPr/>
        </p:nvSpPr>
        <p:spPr>
          <a:xfrm>
            <a:off x="4538020" y="2209745"/>
            <a:ext cx="3115655" cy="698483"/>
          </a:xfrm>
          <a:prstGeom prst="rect">
            <a:avLst/>
          </a:prstGeom>
          <a:noFill/>
          <a:ln/>
        </p:spPr>
        <p:txBody>
          <a:bodyPr wrap="square" lIns="0" tIns="0" rIns="0" bIns="0" rtlCol="0" anchor="t"/>
          <a:lstStyle/>
          <a:p>
            <a:pPr marL="0" indent="0" algn="l">
              <a:lnSpc>
                <a:spcPct val="120000"/>
              </a:lnSpc>
              <a:buNone/>
            </a:pPr>
            <a:r>
              <a:rPr lang="en-US" sz="1600" b="1" dirty="0">
                <a:latin typeface="Calibri" pitchFamily="34" charset="0"/>
                <a:ea typeface="Calibri" pitchFamily="34" charset="-122"/>
                <a:cs typeface="Calibri" pitchFamily="34" charset="-120"/>
              </a:rPr>
              <a:t>Rising Demand for Decentralization
</a:t>
            </a:r>
            <a:endParaRPr lang="en-US" sz="1600" dirty="0"/>
          </a:p>
        </p:txBody>
      </p:sp>
      <p:sp>
        <p:nvSpPr>
          <p:cNvPr id="10" name="Text 5"/>
          <p:cNvSpPr/>
          <p:nvPr/>
        </p:nvSpPr>
        <p:spPr>
          <a:xfrm>
            <a:off x="4511829" y="2635185"/>
            <a:ext cx="3115655" cy="1663658"/>
          </a:xfrm>
          <a:prstGeom prst="rect">
            <a:avLst/>
          </a:prstGeom>
          <a:noFill/>
          <a:ln/>
        </p:spPr>
        <p:txBody>
          <a:bodyPr wrap="square" lIns="0" tIns="0" rIns="0" bIns="0" rtlCol="0" anchor="t"/>
          <a:lstStyle/>
          <a:p>
            <a:pPr marL="0" indent="0" algn="l">
              <a:lnSpc>
                <a:spcPct val="160000"/>
              </a:lnSpc>
              <a:buNone/>
            </a:pPr>
            <a:r>
              <a:rPr lang="en-US" sz="1400" dirty="0">
                <a:latin typeface="Calibri" pitchFamily="34" charset="0"/>
                <a:ea typeface="Calibri" pitchFamily="34" charset="-122"/>
                <a:cs typeface="Calibri" pitchFamily="34" charset="-120"/>
              </a:rPr>
              <a:t>Users increasingly seek decentralized communication platforms that prioritize privacy and control over their data, reflecting a significant shift in user expectations.
</a:t>
            </a:r>
            <a:endParaRPr lang="en-US" sz="1400" dirty="0"/>
          </a:p>
        </p:txBody>
      </p:sp>
      <p:sp>
        <p:nvSpPr>
          <p:cNvPr id="11" name="Shape 6"/>
          <p:cNvSpPr/>
          <p:nvPr/>
        </p:nvSpPr>
        <p:spPr>
          <a:xfrm>
            <a:off x="4538020" y="4549662"/>
            <a:ext cx="1015975" cy="76198"/>
          </a:xfrm>
          <a:prstGeom prst="rect">
            <a:avLst/>
          </a:prstGeom>
          <a:solidFill>
            <a:srgbClr val="F7B801"/>
          </a:solidFill>
          <a:ln/>
        </p:spPr>
        <p:txBody>
          <a:bodyPr/>
          <a:lstStyle/>
          <a:p>
            <a:endParaRPr lang="en-IN"/>
          </a:p>
        </p:txBody>
      </p:sp>
      <p:sp>
        <p:nvSpPr>
          <p:cNvPr id="12" name="Text 7"/>
          <p:cNvSpPr/>
          <p:nvPr/>
        </p:nvSpPr>
        <p:spPr>
          <a:xfrm>
            <a:off x="8060065" y="2209745"/>
            <a:ext cx="3115655" cy="698483"/>
          </a:xfrm>
          <a:prstGeom prst="rect">
            <a:avLst/>
          </a:prstGeom>
          <a:noFill/>
          <a:ln/>
        </p:spPr>
        <p:txBody>
          <a:bodyPr wrap="square" lIns="0" tIns="0" rIns="0" bIns="0" rtlCol="0" anchor="t"/>
          <a:lstStyle/>
          <a:p>
            <a:pPr marL="0" indent="0" algn="l">
              <a:lnSpc>
                <a:spcPct val="120000"/>
              </a:lnSpc>
              <a:buNone/>
            </a:pPr>
            <a:r>
              <a:rPr lang="en-US" sz="1600" b="1" dirty="0">
                <a:latin typeface="Calibri" pitchFamily="34" charset="0"/>
                <a:ea typeface="Calibri" pitchFamily="34" charset="-122"/>
                <a:cs typeface="Calibri" pitchFamily="34" charset="-120"/>
              </a:rPr>
              <a:t>Technologies Enabling Peer-to-Peer
</a:t>
            </a:r>
            <a:endParaRPr lang="en-US" sz="1600" dirty="0"/>
          </a:p>
        </p:txBody>
      </p:sp>
      <p:sp>
        <p:nvSpPr>
          <p:cNvPr id="13" name="Text 8"/>
          <p:cNvSpPr/>
          <p:nvPr/>
        </p:nvSpPr>
        <p:spPr>
          <a:xfrm>
            <a:off x="8060066" y="2635185"/>
            <a:ext cx="3115655" cy="1269968"/>
          </a:xfrm>
          <a:prstGeom prst="rect">
            <a:avLst/>
          </a:prstGeom>
          <a:noFill/>
          <a:ln/>
        </p:spPr>
        <p:txBody>
          <a:bodyPr wrap="square" lIns="0" tIns="0" rIns="0" bIns="0" rtlCol="0" anchor="t"/>
          <a:lstStyle/>
          <a:p>
            <a:pPr marL="0" indent="0" algn="l">
              <a:lnSpc>
                <a:spcPct val="160000"/>
              </a:lnSpc>
              <a:buNone/>
            </a:pPr>
            <a:r>
              <a:rPr lang="en-US" sz="1400" dirty="0">
                <a:latin typeface="Calibri" pitchFamily="34" charset="0"/>
                <a:ea typeface="Calibri" pitchFamily="34" charset="-122"/>
                <a:cs typeface="Calibri" pitchFamily="34" charset="-120"/>
              </a:rPr>
              <a:t>WebRTC and WebSockets facilitate low-latency, peer-to-peer connections, allowing real-time communication without relying on centralized servers for data storage.
</a:t>
            </a:r>
            <a:endParaRPr lang="en-US" sz="1400" dirty="0"/>
          </a:p>
        </p:txBody>
      </p:sp>
      <p:sp>
        <p:nvSpPr>
          <p:cNvPr id="14" name="Shape 9"/>
          <p:cNvSpPr/>
          <p:nvPr/>
        </p:nvSpPr>
        <p:spPr>
          <a:xfrm>
            <a:off x="8060065" y="4549662"/>
            <a:ext cx="1015975" cy="76198"/>
          </a:xfrm>
          <a:prstGeom prst="rect">
            <a:avLst/>
          </a:prstGeom>
          <a:solidFill>
            <a:srgbClr val="7DB9A8"/>
          </a:solidFill>
          <a:ln/>
        </p:spPr>
        <p:txBody>
          <a:bodyPr/>
          <a:lstStyle/>
          <a:p>
            <a:endParaRPr lang="en-IN"/>
          </a:p>
        </p:txBody>
      </p:sp>
      <p:sp>
        <p:nvSpPr>
          <p:cNvPr id="16" name="Text 10"/>
          <p:cNvSpPr/>
          <p:nvPr/>
        </p:nvSpPr>
        <p:spPr>
          <a:xfrm>
            <a:off x="10667733" y="6222844"/>
            <a:ext cx="1079473" cy="380990"/>
          </a:xfrm>
          <a:prstGeom prst="rect">
            <a:avLst/>
          </a:prstGeom>
          <a:noFill/>
          <a:ln/>
        </p:spPr>
        <p:txBody>
          <a:bodyPr wrap="square" lIns="0" tIns="0" rIns="0" bIns="0" rtlCol="0" anchor="t"/>
          <a:lstStyle/>
          <a:p>
            <a:pPr marL="0" indent="0" algn="l">
              <a:lnSpc>
                <a:spcPct val="120000"/>
              </a:lnSpc>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728960" y="-975360"/>
            <a:ext cx="3048000" cy="2682240"/>
          </a:xfrm>
          <a:prstGeom prst="ellipse">
            <a:avLst/>
          </a:prstGeom>
          <a:solidFill>
            <a:srgbClr val="5AADA0"/>
          </a:solidFill>
          <a:ln w="12700">
            <a:solidFill>
              <a:srgbClr val="5AADA0"/>
            </a:solidFill>
            <a:prstDash val="solid"/>
          </a:ln>
        </p:spPr>
      </p:sp>
      <p:sp>
        <p:nvSpPr>
          <p:cNvPr id="3" name="Shape 1"/>
          <p:cNvSpPr/>
          <p:nvPr/>
        </p:nvSpPr>
        <p:spPr>
          <a:xfrm>
            <a:off x="-731520" y="4754880"/>
            <a:ext cx="3901440" cy="3413760"/>
          </a:xfrm>
          <a:prstGeom prst="ellipse">
            <a:avLst/>
          </a:prstGeom>
          <a:solidFill>
            <a:srgbClr val="F5C842"/>
          </a:solidFill>
          <a:ln w="12700">
            <a:solidFill>
              <a:srgbClr val="F5C842"/>
            </a:solidFill>
            <a:prstDash val="solid"/>
          </a:ln>
        </p:spPr>
      </p:sp>
      <p:sp>
        <p:nvSpPr>
          <p:cNvPr id="4" name="Shape 2"/>
          <p:cNvSpPr/>
          <p:nvPr/>
        </p:nvSpPr>
        <p:spPr>
          <a:xfrm>
            <a:off x="219456" y="268224"/>
            <a:ext cx="73152" cy="73152"/>
          </a:xfrm>
          <a:prstGeom prst="ellipse">
            <a:avLst/>
          </a:prstGeom>
          <a:solidFill>
            <a:srgbClr val="E8623A"/>
          </a:solidFill>
          <a:ln w="12700">
            <a:solidFill>
              <a:srgbClr val="E8623A"/>
            </a:solidFill>
            <a:prstDash val="solid"/>
          </a:ln>
        </p:spPr>
      </p:sp>
      <p:sp>
        <p:nvSpPr>
          <p:cNvPr id="5" name="Shape 3"/>
          <p:cNvSpPr/>
          <p:nvPr/>
        </p:nvSpPr>
        <p:spPr>
          <a:xfrm>
            <a:off x="341376" y="170688"/>
            <a:ext cx="60960" cy="60960"/>
          </a:xfrm>
          <a:prstGeom prst="ellipse">
            <a:avLst/>
          </a:prstGeom>
          <a:solidFill>
            <a:srgbClr val="E8623A"/>
          </a:solidFill>
          <a:ln w="12700">
            <a:solidFill>
              <a:srgbClr val="E8623A"/>
            </a:solidFill>
            <a:prstDash val="solid"/>
          </a:ln>
        </p:spPr>
      </p:sp>
      <p:sp>
        <p:nvSpPr>
          <p:cNvPr id="6" name="Shape 4"/>
          <p:cNvSpPr/>
          <p:nvPr/>
        </p:nvSpPr>
        <p:spPr>
          <a:xfrm>
            <a:off x="463296" y="243840"/>
            <a:ext cx="73152" cy="73152"/>
          </a:xfrm>
          <a:prstGeom prst="ellipse">
            <a:avLst/>
          </a:prstGeom>
          <a:solidFill>
            <a:srgbClr val="E8623A"/>
          </a:solidFill>
          <a:ln w="12700">
            <a:solidFill>
              <a:srgbClr val="E8623A"/>
            </a:solidFill>
            <a:prstDash val="solid"/>
          </a:ln>
        </p:spPr>
      </p:sp>
      <p:sp>
        <p:nvSpPr>
          <p:cNvPr id="7" name="Shape 5"/>
          <p:cNvSpPr/>
          <p:nvPr/>
        </p:nvSpPr>
        <p:spPr>
          <a:xfrm>
            <a:off x="146304" y="390144"/>
            <a:ext cx="60960" cy="60960"/>
          </a:xfrm>
          <a:prstGeom prst="ellipse">
            <a:avLst/>
          </a:prstGeom>
          <a:solidFill>
            <a:srgbClr val="E8623A"/>
          </a:solidFill>
          <a:ln w="12700">
            <a:solidFill>
              <a:srgbClr val="E8623A"/>
            </a:solidFill>
            <a:prstDash val="solid"/>
          </a:ln>
        </p:spPr>
      </p:sp>
      <p:sp>
        <p:nvSpPr>
          <p:cNvPr id="8" name="Shape 6"/>
          <p:cNvSpPr/>
          <p:nvPr/>
        </p:nvSpPr>
        <p:spPr>
          <a:xfrm>
            <a:off x="268224" y="463296"/>
            <a:ext cx="60960" cy="60960"/>
          </a:xfrm>
          <a:prstGeom prst="ellipse">
            <a:avLst/>
          </a:prstGeom>
          <a:solidFill>
            <a:srgbClr val="E8623A"/>
          </a:solidFill>
          <a:ln w="12700">
            <a:solidFill>
              <a:srgbClr val="E8623A"/>
            </a:solidFill>
            <a:prstDash val="solid"/>
          </a:ln>
        </p:spPr>
      </p:sp>
      <p:sp>
        <p:nvSpPr>
          <p:cNvPr id="9" name="Shape 7"/>
          <p:cNvSpPr/>
          <p:nvPr/>
        </p:nvSpPr>
        <p:spPr>
          <a:xfrm>
            <a:off x="414528" y="414528"/>
            <a:ext cx="48768" cy="48768"/>
          </a:xfrm>
          <a:prstGeom prst="ellipse">
            <a:avLst/>
          </a:prstGeom>
          <a:solidFill>
            <a:srgbClr val="E8623A"/>
          </a:solidFill>
          <a:ln w="12700">
            <a:solidFill>
              <a:srgbClr val="E8623A"/>
            </a:solidFill>
            <a:prstDash val="solid"/>
          </a:ln>
        </p:spPr>
      </p:sp>
      <p:sp>
        <p:nvSpPr>
          <p:cNvPr id="10" name="Text 8"/>
          <p:cNvSpPr/>
          <p:nvPr/>
        </p:nvSpPr>
        <p:spPr>
          <a:xfrm>
            <a:off x="548640" y="341376"/>
            <a:ext cx="9144000" cy="670560"/>
          </a:xfrm>
          <a:prstGeom prst="rect">
            <a:avLst/>
          </a:prstGeom>
          <a:noFill/>
          <a:ln/>
        </p:spPr>
        <p:txBody>
          <a:bodyPr wrap="square" lIns="0" tIns="0" rIns="0" bIns="0" rtlCol="0" anchor="ctr"/>
          <a:lstStyle/>
          <a:p>
            <a:r>
              <a:rPr lang="en-US" sz="4267" b="1" dirty="0">
                <a:solidFill>
                  <a:srgbClr val="1A1A1A"/>
                </a:solidFill>
                <a:latin typeface="Calibri" pitchFamily="34" charset="0"/>
                <a:ea typeface="Calibri" pitchFamily="34" charset="-122"/>
                <a:cs typeface="Calibri" pitchFamily="34" charset="-120"/>
              </a:rPr>
              <a:t>Literature Survey</a:t>
            </a:r>
            <a:endParaRPr lang="en-US" sz="4267" dirty="0"/>
          </a:p>
        </p:txBody>
      </p:sp>
      <p:sp>
        <p:nvSpPr>
          <p:cNvPr id="11" name="Shape 9"/>
          <p:cNvSpPr/>
          <p:nvPr/>
        </p:nvSpPr>
        <p:spPr>
          <a:xfrm>
            <a:off x="548640" y="1280160"/>
            <a:ext cx="73152" cy="829056"/>
          </a:xfrm>
          <a:prstGeom prst="rect">
            <a:avLst/>
          </a:prstGeom>
          <a:solidFill>
            <a:srgbClr val="5AADA0"/>
          </a:solidFill>
          <a:ln w="12700">
            <a:solidFill>
              <a:srgbClr val="5AADA0"/>
            </a:solidFill>
            <a:prstDash val="solid"/>
          </a:ln>
        </p:spPr>
      </p:sp>
      <p:sp>
        <p:nvSpPr>
          <p:cNvPr id="12" name="Text 10"/>
          <p:cNvSpPr/>
          <p:nvPr/>
        </p:nvSpPr>
        <p:spPr>
          <a:xfrm>
            <a:off x="731520" y="1280160"/>
            <a:ext cx="10972800" cy="341376"/>
          </a:xfrm>
          <a:prstGeom prst="rect">
            <a:avLst/>
          </a:prstGeom>
          <a:noFill/>
          <a:ln/>
        </p:spPr>
        <p:txBody>
          <a:bodyPr wrap="square" lIns="0" tIns="0" rIns="0" bIns="0" rtlCol="0" anchor="ctr"/>
          <a:lstStyle/>
          <a:p>
            <a:r>
              <a:rPr lang="en-US" sz="1333" b="1" dirty="0">
                <a:solidFill>
                  <a:srgbClr val="1A1A1A"/>
                </a:solidFill>
                <a:latin typeface="Calibri" pitchFamily="34" charset="0"/>
                <a:ea typeface="Calibri" pitchFamily="34" charset="-122"/>
                <a:cs typeface="Calibri" pitchFamily="34" charset="-120"/>
              </a:rPr>
              <a:t>B. Gupta &amp; M. P. Vani (IRJET, 2018)  </a:t>
            </a:r>
            <a:r>
              <a:rPr lang="en-US" sz="1333" i="1" dirty="0">
                <a:solidFill>
                  <a:srgbClr val="555555"/>
                </a:solidFill>
                <a:latin typeface="Calibri" pitchFamily="34" charset="0"/>
                <a:ea typeface="Calibri" pitchFamily="34" charset="-122"/>
                <a:cs typeface="Calibri" pitchFamily="34" charset="-120"/>
              </a:rPr>
              <a:t>WebSockets: The Future of Real-Time Communication</a:t>
            </a:r>
            <a:endParaRPr lang="en-US" sz="1333" dirty="0"/>
          </a:p>
        </p:txBody>
      </p:sp>
      <p:sp>
        <p:nvSpPr>
          <p:cNvPr id="13" name="Text 11"/>
          <p:cNvSpPr/>
          <p:nvPr/>
        </p:nvSpPr>
        <p:spPr>
          <a:xfrm>
            <a:off x="731520" y="1645920"/>
            <a:ext cx="10972800" cy="438912"/>
          </a:xfrm>
          <a:prstGeom prst="rect">
            <a:avLst/>
          </a:prstGeom>
          <a:noFill/>
          <a:ln/>
        </p:spPr>
        <p:txBody>
          <a:bodyPr wrap="square" lIns="0" tIns="0" rIns="0" bIns="0" rtlCol="0" anchor="t"/>
          <a:lstStyle/>
          <a:p>
            <a:r>
              <a:rPr lang="en-US" sz="1200" dirty="0">
                <a:solidFill>
                  <a:srgbClr val="444444"/>
                </a:solidFill>
                <a:latin typeface="Calibri" pitchFamily="34" charset="0"/>
                <a:ea typeface="Calibri" pitchFamily="34" charset="-122"/>
                <a:cs typeface="Calibri" pitchFamily="34" charset="-120"/>
              </a:rPr>
              <a:t>→  Demonstrated that WebSockets outperform traditional HTTP polling by enabling full-duplex channels, drastically reducing overhead for chat applications.</a:t>
            </a:r>
            <a:endParaRPr lang="en-US" sz="1200" dirty="0"/>
          </a:p>
        </p:txBody>
      </p:sp>
      <p:sp>
        <p:nvSpPr>
          <p:cNvPr id="14" name="Shape 12"/>
          <p:cNvSpPr/>
          <p:nvPr/>
        </p:nvSpPr>
        <p:spPr>
          <a:xfrm>
            <a:off x="548640" y="2182368"/>
            <a:ext cx="73152" cy="829056"/>
          </a:xfrm>
          <a:prstGeom prst="rect">
            <a:avLst/>
          </a:prstGeom>
          <a:solidFill>
            <a:srgbClr val="E8623A"/>
          </a:solidFill>
          <a:ln w="12700">
            <a:solidFill>
              <a:srgbClr val="E8623A"/>
            </a:solidFill>
            <a:prstDash val="solid"/>
          </a:ln>
        </p:spPr>
      </p:sp>
      <p:sp>
        <p:nvSpPr>
          <p:cNvPr id="15" name="Text 13"/>
          <p:cNvSpPr/>
          <p:nvPr/>
        </p:nvSpPr>
        <p:spPr>
          <a:xfrm>
            <a:off x="731520" y="2182368"/>
            <a:ext cx="10972800" cy="341376"/>
          </a:xfrm>
          <a:prstGeom prst="rect">
            <a:avLst/>
          </a:prstGeom>
          <a:noFill/>
          <a:ln/>
        </p:spPr>
        <p:txBody>
          <a:bodyPr wrap="square" lIns="0" tIns="0" rIns="0" bIns="0" rtlCol="0" anchor="ctr"/>
          <a:lstStyle/>
          <a:p>
            <a:r>
              <a:rPr lang="en-US" sz="1333" b="1" dirty="0">
                <a:solidFill>
                  <a:srgbClr val="1A1A1A"/>
                </a:solidFill>
                <a:latin typeface="Calibri" pitchFamily="34" charset="0"/>
                <a:ea typeface="Calibri" pitchFamily="34" charset="-122"/>
                <a:cs typeface="Calibri" pitchFamily="34" charset="-120"/>
              </a:rPr>
              <a:t>R. Deshmukh et al. (ICSCDS, IEEE 2023)  </a:t>
            </a:r>
            <a:r>
              <a:rPr lang="en-US" sz="1333" i="1" dirty="0">
                <a:solidFill>
                  <a:srgbClr val="555555"/>
                </a:solidFill>
                <a:latin typeface="Calibri" pitchFamily="34" charset="0"/>
                <a:ea typeface="Calibri" pitchFamily="34" charset="-122"/>
                <a:cs typeface="Calibri" pitchFamily="34" charset="-120"/>
              </a:rPr>
              <a:t>Video Conferencing Using WebRTC</a:t>
            </a:r>
            <a:endParaRPr lang="en-US" sz="1333" dirty="0"/>
          </a:p>
        </p:txBody>
      </p:sp>
      <p:sp>
        <p:nvSpPr>
          <p:cNvPr id="16" name="Text 14"/>
          <p:cNvSpPr/>
          <p:nvPr/>
        </p:nvSpPr>
        <p:spPr>
          <a:xfrm>
            <a:off x="731520" y="2548128"/>
            <a:ext cx="10972800" cy="438912"/>
          </a:xfrm>
          <a:prstGeom prst="rect">
            <a:avLst/>
          </a:prstGeom>
          <a:noFill/>
          <a:ln/>
        </p:spPr>
        <p:txBody>
          <a:bodyPr wrap="square" lIns="0" tIns="0" rIns="0" bIns="0" rtlCol="0" anchor="t"/>
          <a:lstStyle/>
          <a:p>
            <a:r>
              <a:rPr lang="en-US" sz="1200" dirty="0">
                <a:solidFill>
                  <a:srgbClr val="444444"/>
                </a:solidFill>
                <a:latin typeface="Calibri" pitchFamily="34" charset="0"/>
                <a:ea typeface="Calibri" pitchFamily="34" charset="-122"/>
                <a:cs typeface="Calibri" pitchFamily="34" charset="-120"/>
              </a:rPr>
              <a:t>→  Showed that browser-native WebRTC peer connections eliminate intermediary media servers, reducing round-trip latency by up to 40 % compared to server-relayed solutions.</a:t>
            </a:r>
            <a:endParaRPr lang="en-US" sz="1200" dirty="0"/>
          </a:p>
        </p:txBody>
      </p:sp>
      <p:sp>
        <p:nvSpPr>
          <p:cNvPr id="17" name="Shape 15"/>
          <p:cNvSpPr/>
          <p:nvPr/>
        </p:nvSpPr>
        <p:spPr>
          <a:xfrm>
            <a:off x="548640" y="3084576"/>
            <a:ext cx="73152" cy="829056"/>
          </a:xfrm>
          <a:prstGeom prst="rect">
            <a:avLst/>
          </a:prstGeom>
          <a:solidFill>
            <a:srgbClr val="5AADA0"/>
          </a:solidFill>
          <a:ln w="12700">
            <a:solidFill>
              <a:srgbClr val="5AADA0"/>
            </a:solidFill>
            <a:prstDash val="solid"/>
          </a:ln>
        </p:spPr>
      </p:sp>
      <p:sp>
        <p:nvSpPr>
          <p:cNvPr id="18" name="Text 16"/>
          <p:cNvSpPr/>
          <p:nvPr/>
        </p:nvSpPr>
        <p:spPr>
          <a:xfrm>
            <a:off x="731520" y="3084576"/>
            <a:ext cx="10972800" cy="341376"/>
          </a:xfrm>
          <a:prstGeom prst="rect">
            <a:avLst/>
          </a:prstGeom>
          <a:noFill/>
          <a:ln/>
        </p:spPr>
        <p:txBody>
          <a:bodyPr wrap="square" lIns="0" tIns="0" rIns="0" bIns="0" rtlCol="0" anchor="ctr"/>
          <a:lstStyle/>
          <a:p>
            <a:r>
              <a:rPr lang="en-US" sz="1333" b="1" dirty="0">
                <a:solidFill>
                  <a:srgbClr val="1A1A1A"/>
                </a:solidFill>
                <a:latin typeface="Calibri" pitchFamily="34" charset="0"/>
                <a:ea typeface="Calibri" pitchFamily="34" charset="-122"/>
                <a:cs typeface="Calibri" pitchFamily="34" charset="-120"/>
              </a:rPr>
              <a:t>S. Kumar &amp; A. Jeyaram (ACCAI, IEEE 2022)  </a:t>
            </a:r>
            <a:r>
              <a:rPr lang="en-US" sz="1333" i="1" dirty="0">
                <a:solidFill>
                  <a:srgbClr val="555555"/>
                </a:solidFill>
                <a:latin typeface="Calibri" pitchFamily="34" charset="0"/>
                <a:ea typeface="Calibri" pitchFamily="34" charset="-122"/>
                <a:cs typeface="Calibri" pitchFamily="34" charset="-120"/>
              </a:rPr>
              <a:t>Signalling Service for WebRTC with Node.js &amp; Socket.IO</a:t>
            </a:r>
            <a:endParaRPr lang="en-US" sz="1333" dirty="0"/>
          </a:p>
        </p:txBody>
      </p:sp>
      <p:sp>
        <p:nvSpPr>
          <p:cNvPr id="19" name="Text 17"/>
          <p:cNvSpPr/>
          <p:nvPr/>
        </p:nvSpPr>
        <p:spPr>
          <a:xfrm>
            <a:off x="731520" y="3450336"/>
            <a:ext cx="10972800" cy="438912"/>
          </a:xfrm>
          <a:prstGeom prst="rect">
            <a:avLst/>
          </a:prstGeom>
          <a:noFill/>
          <a:ln/>
        </p:spPr>
        <p:txBody>
          <a:bodyPr wrap="square" lIns="0" tIns="0" rIns="0" bIns="0" rtlCol="0" anchor="t"/>
          <a:lstStyle/>
          <a:p>
            <a:r>
              <a:rPr lang="en-US" sz="1200" dirty="0">
                <a:solidFill>
                  <a:srgbClr val="444444"/>
                </a:solidFill>
                <a:latin typeface="Calibri" pitchFamily="34" charset="0"/>
                <a:ea typeface="Calibri" pitchFamily="34" charset="-122"/>
                <a:cs typeface="Calibri" pitchFamily="34" charset="-120"/>
              </a:rPr>
              <a:t>→  Validated a lightweight Node.js + Socket.IO signaling architecture that maintains sub-100 ms call-setup time while keeping the server stateless and horizontally scalable.</a:t>
            </a:r>
            <a:endParaRPr lang="en-US" sz="1200" dirty="0"/>
          </a:p>
        </p:txBody>
      </p:sp>
      <p:sp>
        <p:nvSpPr>
          <p:cNvPr id="20" name="Shape 18"/>
          <p:cNvSpPr/>
          <p:nvPr/>
        </p:nvSpPr>
        <p:spPr>
          <a:xfrm>
            <a:off x="548640" y="3986784"/>
            <a:ext cx="73152" cy="829056"/>
          </a:xfrm>
          <a:prstGeom prst="rect">
            <a:avLst/>
          </a:prstGeom>
          <a:solidFill>
            <a:srgbClr val="E8623A"/>
          </a:solidFill>
          <a:ln w="12700">
            <a:solidFill>
              <a:srgbClr val="E8623A"/>
            </a:solidFill>
            <a:prstDash val="solid"/>
          </a:ln>
        </p:spPr>
      </p:sp>
      <p:sp>
        <p:nvSpPr>
          <p:cNvPr id="21" name="Text 19"/>
          <p:cNvSpPr/>
          <p:nvPr/>
        </p:nvSpPr>
        <p:spPr>
          <a:xfrm>
            <a:off x="731520" y="3986784"/>
            <a:ext cx="10972800" cy="341376"/>
          </a:xfrm>
          <a:prstGeom prst="rect">
            <a:avLst/>
          </a:prstGeom>
          <a:noFill/>
          <a:ln/>
        </p:spPr>
        <p:txBody>
          <a:bodyPr wrap="square" lIns="0" tIns="0" rIns="0" bIns="0" rtlCol="0" anchor="ctr"/>
          <a:lstStyle/>
          <a:p>
            <a:r>
              <a:rPr lang="en-US" sz="1333" b="1" dirty="0">
                <a:solidFill>
                  <a:srgbClr val="1A1A1A"/>
                </a:solidFill>
                <a:latin typeface="Calibri" pitchFamily="34" charset="0"/>
                <a:ea typeface="Calibri" pitchFamily="34" charset="-122"/>
                <a:cs typeface="Calibri" pitchFamily="34" charset="-120"/>
              </a:rPr>
              <a:t>M. Bawane et al. (IJRASET, 2022)  </a:t>
            </a:r>
            <a:r>
              <a:rPr lang="en-US" sz="1333" i="1" dirty="0">
                <a:solidFill>
                  <a:srgbClr val="555555"/>
                </a:solidFill>
                <a:latin typeface="Calibri" pitchFamily="34" charset="0"/>
                <a:ea typeface="Calibri" pitchFamily="34" charset="-122"/>
                <a:cs typeface="Calibri" pitchFamily="34" charset="-120"/>
              </a:rPr>
              <a:t>Technologies Used in MERN Stack</a:t>
            </a:r>
            <a:endParaRPr lang="en-US" sz="1333" dirty="0"/>
          </a:p>
        </p:txBody>
      </p:sp>
      <p:sp>
        <p:nvSpPr>
          <p:cNvPr id="22" name="Text 20"/>
          <p:cNvSpPr/>
          <p:nvPr/>
        </p:nvSpPr>
        <p:spPr>
          <a:xfrm>
            <a:off x="731520" y="4352544"/>
            <a:ext cx="10972800" cy="438912"/>
          </a:xfrm>
          <a:prstGeom prst="rect">
            <a:avLst/>
          </a:prstGeom>
          <a:noFill/>
          <a:ln/>
        </p:spPr>
        <p:txBody>
          <a:bodyPr wrap="square" lIns="0" tIns="0" rIns="0" bIns="0" rtlCol="0" anchor="t"/>
          <a:lstStyle/>
          <a:p>
            <a:r>
              <a:rPr lang="en-US" sz="1200" dirty="0">
                <a:solidFill>
                  <a:srgbClr val="444444"/>
                </a:solidFill>
                <a:latin typeface="Calibri" pitchFamily="34" charset="0"/>
                <a:ea typeface="Calibri" pitchFamily="34" charset="-122"/>
                <a:cs typeface="Calibri" pitchFamily="34" charset="-120"/>
              </a:rPr>
              <a:t>→  Confirmed that the MERN stack enables rapid iteration on full-stack applications, with React's virtual DOM providing performant UI re-renders for high-frequency data like chat messages.</a:t>
            </a:r>
            <a:endParaRPr lang="en-US" sz="1200" dirty="0"/>
          </a:p>
        </p:txBody>
      </p:sp>
      <p:sp>
        <p:nvSpPr>
          <p:cNvPr id="23" name="Shape 21"/>
          <p:cNvSpPr/>
          <p:nvPr/>
        </p:nvSpPr>
        <p:spPr>
          <a:xfrm>
            <a:off x="548640" y="4888992"/>
            <a:ext cx="73152" cy="829056"/>
          </a:xfrm>
          <a:prstGeom prst="rect">
            <a:avLst/>
          </a:prstGeom>
          <a:solidFill>
            <a:srgbClr val="5AADA0"/>
          </a:solidFill>
          <a:ln w="12700">
            <a:solidFill>
              <a:srgbClr val="5AADA0"/>
            </a:solidFill>
            <a:prstDash val="solid"/>
          </a:ln>
        </p:spPr>
      </p:sp>
      <p:sp>
        <p:nvSpPr>
          <p:cNvPr id="24" name="Text 22"/>
          <p:cNvSpPr/>
          <p:nvPr/>
        </p:nvSpPr>
        <p:spPr>
          <a:xfrm>
            <a:off x="731520" y="4888992"/>
            <a:ext cx="10972800" cy="341376"/>
          </a:xfrm>
          <a:prstGeom prst="rect">
            <a:avLst/>
          </a:prstGeom>
          <a:noFill/>
          <a:ln/>
        </p:spPr>
        <p:txBody>
          <a:bodyPr wrap="square" lIns="0" tIns="0" rIns="0" bIns="0" rtlCol="0" anchor="ctr"/>
          <a:lstStyle/>
          <a:p>
            <a:r>
              <a:rPr lang="en-US" sz="1333" b="1" dirty="0">
                <a:solidFill>
                  <a:srgbClr val="1A1A1A"/>
                </a:solidFill>
                <a:latin typeface="Calibri" pitchFamily="34" charset="0"/>
                <a:ea typeface="Calibri" pitchFamily="34" charset="-122"/>
                <a:cs typeface="Calibri" pitchFamily="34" charset="-120"/>
              </a:rPr>
              <a:t>K. Gouda &amp; K. Babu (IJCA, 2018)  </a:t>
            </a:r>
            <a:r>
              <a:rPr lang="en-US" sz="1333" i="1" dirty="0">
                <a:solidFill>
                  <a:srgbClr val="555555"/>
                </a:solidFill>
                <a:latin typeface="Calibri" pitchFamily="34" charset="0"/>
                <a:ea typeface="Calibri" pitchFamily="34" charset="-122"/>
                <a:cs typeface="Calibri" pitchFamily="34" charset="-120"/>
              </a:rPr>
              <a:t>WebRTC-Based Systems: Security &amp; Performance Analysis</a:t>
            </a:r>
            <a:endParaRPr lang="en-US" sz="1333" dirty="0"/>
          </a:p>
        </p:txBody>
      </p:sp>
      <p:sp>
        <p:nvSpPr>
          <p:cNvPr id="25" name="Text 23"/>
          <p:cNvSpPr/>
          <p:nvPr/>
        </p:nvSpPr>
        <p:spPr>
          <a:xfrm>
            <a:off x="731520" y="5254752"/>
            <a:ext cx="10972800" cy="438912"/>
          </a:xfrm>
          <a:prstGeom prst="rect">
            <a:avLst/>
          </a:prstGeom>
          <a:noFill/>
          <a:ln/>
        </p:spPr>
        <p:txBody>
          <a:bodyPr wrap="square" lIns="0" tIns="0" rIns="0" bIns="0" rtlCol="0" anchor="t"/>
          <a:lstStyle/>
          <a:p>
            <a:r>
              <a:rPr lang="en-US" sz="1200" dirty="0">
                <a:solidFill>
                  <a:srgbClr val="444444"/>
                </a:solidFill>
                <a:latin typeface="Calibri" pitchFamily="34" charset="0"/>
                <a:ea typeface="Calibri" pitchFamily="34" charset="-122"/>
                <a:cs typeface="Calibri" pitchFamily="34" charset="-120"/>
              </a:rPr>
              <a:t>→  Found that WebRTC's built-in DTLS-SRTP encryption provides adequate data security for peer-to-peer communications without additional overhead.</a:t>
            </a:r>
            <a:endParaRPr lang="en-US" sz="1200" dirty="0"/>
          </a:p>
        </p:txBody>
      </p:sp>
      <p:sp>
        <p:nvSpPr>
          <p:cNvPr id="26" name="Shape 24"/>
          <p:cNvSpPr/>
          <p:nvPr/>
        </p:nvSpPr>
        <p:spPr>
          <a:xfrm>
            <a:off x="548640" y="5791200"/>
            <a:ext cx="73152" cy="829056"/>
          </a:xfrm>
          <a:prstGeom prst="rect">
            <a:avLst/>
          </a:prstGeom>
          <a:solidFill>
            <a:srgbClr val="E8623A"/>
          </a:solidFill>
          <a:ln w="12700">
            <a:solidFill>
              <a:srgbClr val="E8623A"/>
            </a:solidFill>
            <a:prstDash val="solid"/>
          </a:ln>
        </p:spPr>
      </p:sp>
      <p:sp>
        <p:nvSpPr>
          <p:cNvPr id="27" name="Text 25"/>
          <p:cNvSpPr/>
          <p:nvPr/>
        </p:nvSpPr>
        <p:spPr>
          <a:xfrm>
            <a:off x="731520" y="5791200"/>
            <a:ext cx="10972800" cy="341376"/>
          </a:xfrm>
          <a:prstGeom prst="rect">
            <a:avLst/>
          </a:prstGeom>
          <a:noFill/>
          <a:ln/>
        </p:spPr>
        <p:txBody>
          <a:bodyPr wrap="square" lIns="0" tIns="0" rIns="0" bIns="0" rtlCol="0" anchor="ctr"/>
          <a:lstStyle/>
          <a:p>
            <a:r>
              <a:rPr lang="en-US" sz="1333" b="1" dirty="0">
                <a:solidFill>
                  <a:srgbClr val="1A1A1A"/>
                </a:solidFill>
                <a:latin typeface="Calibri" pitchFamily="34" charset="0"/>
                <a:ea typeface="Calibri" pitchFamily="34" charset="-122"/>
                <a:cs typeface="Calibri" pitchFamily="34" charset="-120"/>
              </a:rPr>
              <a:t>R. Narula, S. Agarwal &amp; A. Gupta (ACM, 2018)  </a:t>
            </a:r>
            <a:r>
              <a:rPr lang="en-US" sz="1333" i="1" dirty="0">
                <a:solidFill>
                  <a:srgbClr val="555555"/>
                </a:solidFill>
                <a:latin typeface="Calibri" pitchFamily="34" charset="0"/>
                <a:ea typeface="Calibri" pitchFamily="34" charset="-122"/>
                <a:cs typeface="Calibri" pitchFamily="34" charset="-120"/>
              </a:rPr>
              <a:t>Client-Side Storage Techniques for Secure Web Apps</a:t>
            </a:r>
            <a:endParaRPr lang="en-US" sz="1333" dirty="0"/>
          </a:p>
        </p:txBody>
      </p:sp>
      <p:sp>
        <p:nvSpPr>
          <p:cNvPr id="28" name="Text 26"/>
          <p:cNvSpPr/>
          <p:nvPr/>
        </p:nvSpPr>
        <p:spPr>
          <a:xfrm>
            <a:off x="731520" y="6156960"/>
            <a:ext cx="10972800" cy="438912"/>
          </a:xfrm>
          <a:prstGeom prst="rect">
            <a:avLst/>
          </a:prstGeom>
          <a:noFill/>
          <a:ln/>
        </p:spPr>
        <p:txBody>
          <a:bodyPr wrap="square" lIns="0" tIns="0" rIns="0" bIns="0" rtlCol="0" anchor="t"/>
          <a:lstStyle/>
          <a:p>
            <a:r>
              <a:rPr lang="en-US" sz="1200" dirty="0">
                <a:solidFill>
                  <a:srgbClr val="444444"/>
                </a:solidFill>
                <a:latin typeface="Calibri" pitchFamily="34" charset="0"/>
                <a:ea typeface="Calibri" pitchFamily="34" charset="-122"/>
                <a:cs typeface="Calibri" pitchFamily="34" charset="-120"/>
              </a:rPr>
              <a:t>→  Established that IndexedDB and LocalStorage, when used without server sync, prevent third-party data collection and support GDPR-aligned, privacy-by-design architectures.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E7EF3-DE68-2A4F-ED0A-B7636308811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92B6057-CD1A-3696-92CF-4D8BD53EDC82}"/>
              </a:ext>
            </a:extLst>
          </p:cNvPr>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a:extLst>
              <a:ext uri="{FF2B5EF4-FFF2-40B4-BE49-F238E27FC236}">
                <a16:creationId xmlns:a16="http://schemas.microsoft.com/office/drawing/2014/main" id="{A570A665-5BA6-0119-0280-9A24C1623DCC}"/>
              </a:ext>
            </a:extLst>
          </p:cNvPr>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a:extLst>
              <a:ext uri="{FF2B5EF4-FFF2-40B4-BE49-F238E27FC236}">
                <a16:creationId xmlns:a16="http://schemas.microsoft.com/office/drawing/2014/main" id="{BBA9EE1D-413E-D221-6B2A-E42E2227717A}"/>
              </a:ext>
            </a:extLst>
          </p:cNvPr>
          <p:cNvPicPr>
            <a:picLocks noChangeAspect="1"/>
          </p:cNvPicPr>
          <p:nvPr/>
        </p:nvPicPr>
        <p:blipFill>
          <a:blip r:embed="rId5"/>
          <a:srcRect/>
          <a:stretch/>
        </p:blipFill>
        <p:spPr>
          <a:xfrm>
            <a:off x="8381790" y="0"/>
            <a:ext cx="3764185" cy="2031949"/>
          </a:xfrm>
          <a:prstGeom prst="rect">
            <a:avLst/>
          </a:prstGeom>
        </p:spPr>
      </p:pic>
      <p:sp>
        <p:nvSpPr>
          <p:cNvPr id="5" name="Text 0">
            <a:extLst>
              <a:ext uri="{FF2B5EF4-FFF2-40B4-BE49-F238E27FC236}">
                <a16:creationId xmlns:a16="http://schemas.microsoft.com/office/drawing/2014/main" id="{E01E9AB0-22BF-84CB-13DA-38A7039BDD9E}"/>
              </a:ext>
            </a:extLst>
          </p:cNvPr>
          <p:cNvSpPr/>
          <p:nvPr/>
        </p:nvSpPr>
        <p:spPr>
          <a:xfrm>
            <a:off x="1079372" y="521642"/>
            <a:ext cx="10159746" cy="888978"/>
          </a:xfrm>
          <a:prstGeom prst="rect">
            <a:avLst/>
          </a:prstGeom>
          <a:noFill/>
          <a:ln/>
        </p:spPr>
        <p:txBody>
          <a:bodyPr wrap="square" lIns="0" tIns="0" rIns="0" bIns="0" rtlCol="0" anchor="t"/>
          <a:lstStyle/>
          <a:p>
            <a:pPr marL="0" indent="0" algn="l">
              <a:lnSpc>
                <a:spcPct val="120000"/>
              </a:lnSpc>
              <a:buNone/>
            </a:pPr>
            <a:r>
              <a:rPr lang="en-US" sz="3000" b="1" dirty="0">
                <a:latin typeface="Calibri" pitchFamily="34" charset="0"/>
                <a:ea typeface="Calibri" pitchFamily="34" charset="-122"/>
                <a:cs typeface="Calibri" pitchFamily="34" charset="-120"/>
              </a:rPr>
              <a:t>Feature Comparison
</a:t>
            </a:r>
            <a:endParaRPr lang="en-US" sz="3000" dirty="0"/>
          </a:p>
        </p:txBody>
      </p:sp>
      <p:graphicFrame>
        <p:nvGraphicFramePr>
          <p:cNvPr id="20" name="Table 19">
            <a:extLst>
              <a:ext uri="{FF2B5EF4-FFF2-40B4-BE49-F238E27FC236}">
                <a16:creationId xmlns:a16="http://schemas.microsoft.com/office/drawing/2014/main" id="{2BF72EAB-A1EB-1A2B-58C4-33D3E79EC4E8}"/>
              </a:ext>
            </a:extLst>
          </p:cNvPr>
          <p:cNvGraphicFramePr>
            <a:graphicFrameLocks noGrp="1"/>
          </p:cNvGraphicFramePr>
          <p:nvPr>
            <p:extLst>
              <p:ext uri="{D42A27DB-BD31-4B8C-83A1-F6EECF244321}">
                <p14:modId xmlns:p14="http://schemas.microsoft.com/office/powerpoint/2010/main" val="2818719737"/>
              </p:ext>
            </p:extLst>
          </p:nvPr>
        </p:nvGraphicFramePr>
        <p:xfrm>
          <a:off x="1079372" y="1650958"/>
          <a:ext cx="10159746" cy="3322320"/>
        </p:xfrm>
        <a:graphic>
          <a:graphicData uri="http://schemas.openxmlformats.org/drawingml/2006/table">
            <a:tbl>
              <a:tblPr firstRow="1" bandRow="1">
                <a:tableStyleId>{2D5ABB26-0587-4C30-8999-92F81FD0307C}</a:tableStyleId>
              </a:tblPr>
              <a:tblGrid>
                <a:gridCol w="3386582">
                  <a:extLst>
                    <a:ext uri="{9D8B030D-6E8A-4147-A177-3AD203B41FA5}">
                      <a16:colId xmlns:a16="http://schemas.microsoft.com/office/drawing/2014/main" val="2072051885"/>
                    </a:ext>
                  </a:extLst>
                </a:gridCol>
                <a:gridCol w="3443698">
                  <a:extLst>
                    <a:ext uri="{9D8B030D-6E8A-4147-A177-3AD203B41FA5}">
                      <a16:colId xmlns:a16="http://schemas.microsoft.com/office/drawing/2014/main" val="3224684883"/>
                    </a:ext>
                  </a:extLst>
                </a:gridCol>
                <a:gridCol w="3329466">
                  <a:extLst>
                    <a:ext uri="{9D8B030D-6E8A-4147-A177-3AD203B41FA5}">
                      <a16:colId xmlns:a16="http://schemas.microsoft.com/office/drawing/2014/main" val="1765918303"/>
                    </a:ext>
                  </a:extLst>
                </a:gridCol>
              </a:tblGrid>
              <a:tr h="331551">
                <a:tc>
                  <a:txBody>
                    <a:bodyPr/>
                    <a:lstStyle/>
                    <a:p>
                      <a:r>
                        <a:rPr lang="en-IN" sz="2000" b="1" dirty="0">
                          <a:solidFill>
                            <a:schemeClr val="bg1"/>
                          </a:solidFill>
                        </a:rPr>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i="0" kern="1200" dirty="0">
                          <a:solidFill>
                            <a:schemeClr val="bg1"/>
                          </a:solidFill>
                          <a:effectLst/>
                          <a:latin typeface="+mn-lt"/>
                          <a:ea typeface="+mn-ea"/>
                          <a:cs typeface="+mn-cs"/>
                        </a:rPr>
                        <a:t>CONVENTIONAL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n-IN" sz="2000" b="1" dirty="0">
                          <a:solidFill>
                            <a:schemeClr val="bg1"/>
                          </a:solidFill>
                        </a:rPr>
                        <a:t>FIRED CHAT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972076055"/>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App Startup Latency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500ms - 2s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&lt;50ms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7548433"/>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Message Delivery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200-500ms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50-150ms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448976"/>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Bandwidth Usage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High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Low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4212044"/>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Data Privacy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Server stored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Client-side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457495"/>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Server Load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High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Minimal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59998"/>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Scalability 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High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Low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6197601"/>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Single Point Failure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Yes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No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7991260"/>
                  </a:ext>
                </a:extLst>
              </a:tr>
              <a:tr h="331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Database Calls at Startup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1-5 queries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0 queries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881971"/>
                  </a:ext>
                </a:extLst>
              </a:tr>
            </a:tbl>
          </a:graphicData>
        </a:graphic>
      </p:graphicFrame>
    </p:spTree>
    <p:extLst>
      <p:ext uri="{BB962C8B-B14F-4D97-AF65-F5344CB8AC3E}">
        <p14:creationId xmlns:p14="http://schemas.microsoft.com/office/powerpoint/2010/main" val="3831409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5F7AE-7000-2E4F-70D4-063EA6126EDB}"/>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506258E-8962-6415-FAD9-DDDCC51DA26D}"/>
              </a:ext>
            </a:extLst>
          </p:cNvPr>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a:extLst>
              <a:ext uri="{FF2B5EF4-FFF2-40B4-BE49-F238E27FC236}">
                <a16:creationId xmlns:a16="http://schemas.microsoft.com/office/drawing/2014/main" id="{C9151586-19EF-C960-F3B1-A6085F931149}"/>
              </a:ext>
            </a:extLst>
          </p:cNvPr>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a:extLst>
              <a:ext uri="{FF2B5EF4-FFF2-40B4-BE49-F238E27FC236}">
                <a16:creationId xmlns:a16="http://schemas.microsoft.com/office/drawing/2014/main" id="{44928579-9096-EC46-7CF0-64E3849A985B}"/>
              </a:ext>
            </a:extLst>
          </p:cNvPr>
          <p:cNvPicPr>
            <a:picLocks noChangeAspect="1"/>
          </p:cNvPicPr>
          <p:nvPr/>
        </p:nvPicPr>
        <p:blipFill>
          <a:blip r:embed="rId5"/>
          <a:srcRect/>
          <a:stretch/>
        </p:blipFill>
        <p:spPr>
          <a:xfrm>
            <a:off x="8381790" y="0"/>
            <a:ext cx="3764185" cy="2031949"/>
          </a:xfrm>
          <a:prstGeom prst="rect">
            <a:avLst/>
          </a:prstGeom>
        </p:spPr>
      </p:pic>
      <p:sp>
        <p:nvSpPr>
          <p:cNvPr id="5" name="Text 0">
            <a:extLst>
              <a:ext uri="{FF2B5EF4-FFF2-40B4-BE49-F238E27FC236}">
                <a16:creationId xmlns:a16="http://schemas.microsoft.com/office/drawing/2014/main" id="{EC798F55-299F-88EE-4233-984D1C59883A}"/>
              </a:ext>
            </a:extLst>
          </p:cNvPr>
          <p:cNvSpPr/>
          <p:nvPr/>
        </p:nvSpPr>
        <p:spPr>
          <a:xfrm>
            <a:off x="1016127" y="634983"/>
            <a:ext cx="10159746" cy="654555"/>
          </a:xfrm>
          <a:prstGeom prst="rect">
            <a:avLst/>
          </a:prstGeom>
          <a:noFill/>
          <a:ln/>
        </p:spPr>
        <p:txBody>
          <a:bodyPr wrap="square" lIns="0" tIns="0" rIns="0" bIns="0" rtlCol="0" anchor="t"/>
          <a:lstStyle/>
          <a:p>
            <a:r>
              <a:rPr lang="en-IN" sz="3200" b="1" dirty="0">
                <a:latin typeface="Inter"/>
              </a:rPr>
              <a:t>Unique Selling Points</a:t>
            </a:r>
          </a:p>
        </p:txBody>
      </p:sp>
      <p:sp>
        <p:nvSpPr>
          <p:cNvPr id="17" name="TextBox 16">
            <a:extLst>
              <a:ext uri="{FF2B5EF4-FFF2-40B4-BE49-F238E27FC236}">
                <a16:creationId xmlns:a16="http://schemas.microsoft.com/office/drawing/2014/main" id="{FAB7A635-29D3-A557-5138-DC437B9C6A60}"/>
              </a:ext>
            </a:extLst>
          </p:cNvPr>
          <p:cNvSpPr txBox="1"/>
          <p:nvPr/>
        </p:nvSpPr>
        <p:spPr>
          <a:xfrm>
            <a:off x="937973" y="1469240"/>
            <a:ext cx="4454642" cy="3724096"/>
          </a:xfrm>
          <a:prstGeom prst="rect">
            <a:avLst/>
          </a:prstGeom>
          <a:noFill/>
        </p:spPr>
        <p:txBody>
          <a:bodyPr wrap="square">
            <a:spAutoFit/>
          </a:bodyPr>
          <a:lstStyle/>
          <a:p>
            <a:r>
              <a:rPr lang="en-IN" sz="2000" b="1" i="0" dirty="0">
                <a:effectLst/>
                <a:latin typeface="Inter"/>
              </a:rPr>
              <a:t>Latency Analysis</a:t>
            </a:r>
          </a:p>
          <a:p>
            <a:br>
              <a:rPr lang="en-IN" b="1" i="0" dirty="0">
                <a:effectLst/>
                <a:latin typeface="Inter"/>
              </a:rPr>
            </a:br>
            <a:r>
              <a:rPr lang="en-IN" b="1" i="0" dirty="0">
                <a:effectLst/>
                <a:latin typeface="Inter"/>
              </a:rPr>
              <a:t>Startup Time: </a:t>
            </a:r>
          </a:p>
          <a:p>
            <a:r>
              <a:rPr lang="en-IN" b="0" i="0" dirty="0">
                <a:effectLst/>
                <a:latin typeface="Inter"/>
              </a:rPr>
              <a:t>███████████ 1s (Conventional)</a:t>
            </a:r>
            <a:br>
              <a:rPr lang="en-IN" b="0" i="0" dirty="0">
                <a:effectLst/>
                <a:latin typeface="Inter"/>
              </a:rPr>
            </a:br>
            <a:r>
              <a:rPr lang="en-IN" b="0" i="0" dirty="0">
                <a:effectLst/>
                <a:latin typeface="Inter"/>
              </a:rPr>
              <a:t>██ 50ms (Local-First) ⚡ 20x faster </a:t>
            </a:r>
          </a:p>
          <a:p>
            <a:endParaRPr lang="en-IN" b="0" i="0" dirty="0">
              <a:effectLst/>
              <a:latin typeface="Inter"/>
            </a:endParaRPr>
          </a:p>
          <a:p>
            <a:r>
              <a:rPr lang="en-IN" b="1" i="0" dirty="0">
                <a:effectLst/>
                <a:latin typeface="Inter"/>
              </a:rPr>
              <a:t>Message Delivery:</a:t>
            </a:r>
            <a:r>
              <a:rPr lang="en-IN" b="0" i="0" dirty="0">
                <a:effectLst/>
                <a:latin typeface="Inter"/>
              </a:rPr>
              <a:t> </a:t>
            </a:r>
          </a:p>
          <a:p>
            <a:r>
              <a:rPr lang="en-IN" b="0" i="0" dirty="0">
                <a:effectLst/>
                <a:latin typeface="Inter"/>
              </a:rPr>
              <a:t>████████ 300ms (Conventional)</a:t>
            </a:r>
          </a:p>
          <a:p>
            <a:r>
              <a:rPr lang="en-IN" b="0" i="0" dirty="0">
                <a:effectLst/>
                <a:latin typeface="Inter"/>
              </a:rPr>
              <a:t>██ 100ms (Local-First) ⚡ 3x faster </a:t>
            </a:r>
          </a:p>
          <a:p>
            <a:endParaRPr lang="en-IN" b="0" i="0" dirty="0">
              <a:effectLst/>
              <a:latin typeface="Inter"/>
            </a:endParaRPr>
          </a:p>
          <a:p>
            <a:r>
              <a:rPr lang="en-IN" b="1" i="0" dirty="0">
                <a:effectLst/>
                <a:latin typeface="Inter"/>
              </a:rPr>
              <a:t>Bandwidth at Startup: </a:t>
            </a:r>
          </a:p>
          <a:p>
            <a:r>
              <a:rPr lang="en-IN" b="0" i="0" dirty="0">
                <a:effectLst/>
                <a:latin typeface="Inter"/>
              </a:rPr>
              <a:t>█████████ 2MB (Conventional) </a:t>
            </a:r>
          </a:p>
          <a:p>
            <a:r>
              <a:rPr lang="en-IN" b="0" i="0" dirty="0">
                <a:effectLst/>
                <a:latin typeface="Inter"/>
              </a:rPr>
              <a:t>██ 100KB (Local-First) ⚡ 20x less</a:t>
            </a:r>
            <a:endParaRPr lang="en-IN" dirty="0"/>
          </a:p>
        </p:txBody>
      </p:sp>
      <p:sp>
        <p:nvSpPr>
          <p:cNvPr id="8" name="TextBox 7">
            <a:extLst>
              <a:ext uri="{FF2B5EF4-FFF2-40B4-BE49-F238E27FC236}">
                <a16:creationId xmlns:a16="http://schemas.microsoft.com/office/drawing/2014/main" id="{68AEB463-E4D2-A503-C190-2A2DE17C615A}"/>
              </a:ext>
            </a:extLst>
          </p:cNvPr>
          <p:cNvSpPr txBox="1"/>
          <p:nvPr/>
        </p:nvSpPr>
        <p:spPr>
          <a:xfrm>
            <a:off x="7151077" y="1469240"/>
            <a:ext cx="3696677" cy="4031873"/>
          </a:xfrm>
          <a:prstGeom prst="rect">
            <a:avLst/>
          </a:prstGeom>
          <a:noFill/>
        </p:spPr>
        <p:txBody>
          <a:bodyPr wrap="square" rtlCol="0">
            <a:spAutoFit/>
          </a:bodyPr>
          <a:lstStyle/>
          <a:p>
            <a:r>
              <a:rPr lang="en-IN" sz="2000" b="1" dirty="0"/>
              <a:t>Privacy Centric:</a:t>
            </a:r>
          </a:p>
          <a:p>
            <a:r>
              <a:rPr lang="en-US" dirty="0"/>
              <a:t>Fired Chat keeps all your  messages </a:t>
            </a:r>
            <a:r>
              <a:rPr lang="en-US" b="1" dirty="0"/>
              <a:t>on your device</a:t>
            </a:r>
            <a:r>
              <a:rPr lang="en-US" dirty="0"/>
              <a:t>, with </a:t>
            </a:r>
            <a:r>
              <a:rPr lang="en-US" b="1" dirty="0"/>
              <a:t>no centralized storage</a:t>
            </a:r>
            <a:r>
              <a:rPr lang="en-US" dirty="0"/>
              <a:t>, </a:t>
            </a:r>
            <a:r>
              <a:rPr lang="en-US" b="1" dirty="0"/>
              <a:t>no data tracking</a:t>
            </a:r>
            <a:r>
              <a:rPr lang="en-US" dirty="0"/>
              <a:t>, and </a:t>
            </a:r>
            <a:r>
              <a:rPr lang="en-US" b="1" dirty="0"/>
              <a:t>end-to-end encryption,</a:t>
            </a:r>
            <a:r>
              <a:rPr lang="en-US" dirty="0"/>
              <a:t> giving you complete control over your conversations.</a:t>
            </a:r>
            <a:endParaRPr lang="en-IN" b="1" dirty="0"/>
          </a:p>
          <a:p>
            <a:endParaRPr lang="en-IN" dirty="0"/>
          </a:p>
          <a:p>
            <a:r>
              <a:rPr lang="en-IN" sz="2000" b="1" dirty="0"/>
              <a:t>In-built AI Chatbot:</a:t>
            </a:r>
          </a:p>
          <a:p>
            <a:r>
              <a:rPr lang="en-US" dirty="0"/>
              <a:t>Get instant, clear explanations of messages, complex terms or topics, right inside the chat, without switching apps.</a:t>
            </a:r>
            <a:endParaRPr lang="en-IN" b="1" dirty="0"/>
          </a:p>
          <a:p>
            <a:endParaRPr lang="en-IN" dirty="0"/>
          </a:p>
        </p:txBody>
      </p:sp>
    </p:spTree>
    <p:extLst>
      <p:ext uri="{BB962C8B-B14F-4D97-AF65-F5344CB8AC3E}">
        <p14:creationId xmlns:p14="http://schemas.microsoft.com/office/powerpoint/2010/main" val="634769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p:cNvPicPr>
            <a:picLocks noChangeAspect="1"/>
          </p:cNvPicPr>
          <p:nvPr/>
        </p:nvPicPr>
        <p:blipFill>
          <a:blip r:embed="rId5"/>
          <a:srcRect/>
          <a:stretch/>
        </p:blipFill>
        <p:spPr>
          <a:xfrm>
            <a:off x="8381790" y="0"/>
            <a:ext cx="3764185" cy="2031949"/>
          </a:xfrm>
          <a:prstGeom prst="rect">
            <a:avLst/>
          </a:prstGeom>
        </p:spPr>
      </p:pic>
      <p:sp>
        <p:nvSpPr>
          <p:cNvPr id="5" name="Text 0"/>
          <p:cNvSpPr/>
          <p:nvPr/>
        </p:nvSpPr>
        <p:spPr>
          <a:xfrm>
            <a:off x="1015975" y="634984"/>
            <a:ext cx="10159746" cy="888978"/>
          </a:xfrm>
          <a:prstGeom prst="rect">
            <a:avLst/>
          </a:prstGeom>
          <a:noFill/>
          <a:ln/>
        </p:spPr>
        <p:txBody>
          <a:bodyPr wrap="square" lIns="0" tIns="0" rIns="0" bIns="0" rtlCol="0" anchor="t"/>
          <a:lstStyle/>
          <a:p>
            <a:pPr marL="0" indent="0" algn="l">
              <a:lnSpc>
                <a:spcPct val="120000"/>
              </a:lnSpc>
              <a:buNone/>
            </a:pPr>
            <a:r>
              <a:rPr lang="en-US" sz="3000" b="1" dirty="0">
                <a:solidFill>
                  <a:srgbClr val="2D3436"/>
                </a:solidFill>
                <a:latin typeface="Calibri" pitchFamily="34" charset="0"/>
                <a:ea typeface="Calibri" pitchFamily="34" charset="-122"/>
                <a:cs typeface="Calibri" pitchFamily="34" charset="-120"/>
              </a:rPr>
              <a:t>Methodology 
</a:t>
            </a:r>
            <a:endParaRPr lang="en-US" sz="3000" dirty="0"/>
          </a:p>
        </p:txBody>
      </p:sp>
      <p:sp>
        <p:nvSpPr>
          <p:cNvPr id="6" name="Text 1"/>
          <p:cNvSpPr/>
          <p:nvPr/>
        </p:nvSpPr>
        <p:spPr>
          <a:xfrm>
            <a:off x="1015976" y="1531149"/>
            <a:ext cx="10159746" cy="482588"/>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Calibri" pitchFamily="34" charset="0"/>
                <a:ea typeface="Calibri" pitchFamily="34" charset="-122"/>
                <a:cs typeface="Calibri" pitchFamily="34" charset="-120"/>
              </a:rPr>
              <a:t>1. Requirement Analysis
</a:t>
            </a:r>
            <a:endParaRPr lang="en-US" sz="1600" dirty="0"/>
          </a:p>
        </p:txBody>
      </p:sp>
      <p:sp>
        <p:nvSpPr>
          <p:cNvPr id="7" name="Text 2"/>
          <p:cNvSpPr/>
          <p:nvPr/>
        </p:nvSpPr>
        <p:spPr>
          <a:xfrm>
            <a:off x="1015975" y="1872431"/>
            <a:ext cx="10630593" cy="800080"/>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Identified key features such as real-time chat, video calling, dynamic room management, and AI chatbot support to enhance user experience.
</a:t>
            </a:r>
            <a:endParaRPr lang="en-US" sz="1400" dirty="0"/>
          </a:p>
        </p:txBody>
      </p:sp>
      <p:sp>
        <p:nvSpPr>
          <p:cNvPr id="8" name="Text 3"/>
          <p:cNvSpPr/>
          <p:nvPr/>
        </p:nvSpPr>
        <p:spPr>
          <a:xfrm>
            <a:off x="1015974" y="2304220"/>
            <a:ext cx="10159746" cy="482588"/>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Calibri" pitchFamily="34" charset="0"/>
                <a:ea typeface="Calibri" pitchFamily="34" charset="-122"/>
                <a:cs typeface="Calibri" pitchFamily="34" charset="-120"/>
              </a:rPr>
              <a:t>2. Decentralized Architecture
</a:t>
            </a:r>
            <a:endParaRPr lang="en-US" sz="1600" dirty="0"/>
          </a:p>
        </p:txBody>
      </p:sp>
      <p:sp>
        <p:nvSpPr>
          <p:cNvPr id="9" name="Text 4"/>
          <p:cNvSpPr/>
          <p:nvPr/>
        </p:nvSpPr>
        <p:spPr>
          <a:xfrm>
            <a:off x="1015973" y="2651101"/>
            <a:ext cx="10159746" cy="800080"/>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Designed a privacy-centric architecture that eliminates server-side storage, ensuring user data remains secure and under individual control.
</a:t>
            </a:r>
            <a:endParaRPr lang="en-US" sz="1400" dirty="0"/>
          </a:p>
        </p:txBody>
      </p:sp>
      <p:sp>
        <p:nvSpPr>
          <p:cNvPr id="10" name="Text 5"/>
          <p:cNvSpPr/>
          <p:nvPr/>
        </p:nvSpPr>
        <p:spPr>
          <a:xfrm>
            <a:off x="1015972" y="3088218"/>
            <a:ext cx="10159746" cy="482588"/>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Calibri" pitchFamily="34" charset="0"/>
                <a:ea typeface="Calibri" pitchFamily="34" charset="-122"/>
                <a:cs typeface="Calibri" pitchFamily="34" charset="-120"/>
              </a:rPr>
              <a:t>3. Real-Time Communication
</a:t>
            </a:r>
            <a:endParaRPr lang="en-US" sz="1600" dirty="0"/>
          </a:p>
        </p:txBody>
      </p:sp>
      <p:sp>
        <p:nvSpPr>
          <p:cNvPr id="11" name="Text 6"/>
          <p:cNvSpPr/>
          <p:nvPr/>
        </p:nvSpPr>
        <p:spPr>
          <a:xfrm>
            <a:off x="1015971" y="3476496"/>
            <a:ext cx="10630592" cy="800080"/>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Used protocols like Socket.IO and WebRTC for instant messaging and peer-to-peer video calls, ensuring low latency and high performance.
</a:t>
            </a:r>
            <a:endParaRPr lang="en-US" sz="1400" dirty="0"/>
          </a:p>
        </p:txBody>
      </p:sp>
      <p:sp>
        <p:nvSpPr>
          <p:cNvPr id="12" name="Text 7"/>
          <p:cNvSpPr/>
          <p:nvPr/>
        </p:nvSpPr>
        <p:spPr>
          <a:xfrm>
            <a:off x="1015975" y="3909133"/>
            <a:ext cx="10159746" cy="482588"/>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Calibri" pitchFamily="34" charset="0"/>
                <a:ea typeface="Calibri" pitchFamily="34" charset="-122"/>
                <a:cs typeface="Calibri" pitchFamily="34" charset="-120"/>
              </a:rPr>
              <a:t>4. User Interface Development
</a:t>
            </a:r>
            <a:endParaRPr lang="en-US" sz="1600" dirty="0"/>
          </a:p>
        </p:txBody>
      </p:sp>
      <p:sp>
        <p:nvSpPr>
          <p:cNvPr id="13" name="Text 8"/>
          <p:cNvSpPr/>
          <p:nvPr/>
        </p:nvSpPr>
        <p:spPr>
          <a:xfrm>
            <a:off x="1015970" y="4224068"/>
            <a:ext cx="10159746" cy="800080"/>
          </a:xfrm>
          <a:prstGeom prst="rect">
            <a:avLst/>
          </a:prstGeom>
          <a:noFill/>
          <a:ln/>
        </p:spPr>
        <p:txBody>
          <a:bodyPr wrap="square" lIns="0" tIns="0" rIns="0" bIns="0" rtlCol="0" anchor="t"/>
          <a:lstStyle/>
          <a:p>
            <a:pPr marL="0" indent="0" algn="l">
              <a:lnSpc>
                <a:spcPct val="150000"/>
              </a:lnSpc>
              <a:buNone/>
            </a:pPr>
            <a:r>
              <a:rPr lang="en-US" sz="1400" dirty="0">
                <a:latin typeface="Calibri" pitchFamily="34" charset="0"/>
                <a:ea typeface="Calibri" pitchFamily="34" charset="-122"/>
                <a:cs typeface="Calibri" pitchFamily="34" charset="-120"/>
              </a:rPr>
              <a:t>Developed a responsive UI using Tailwind CSS, focusing on a seamless experience across devices and intuitive navigation for users.
</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9904AD-D068-69F7-5A45-39DC0242FE55}"/>
            </a:ext>
          </a:extLst>
        </p:cNvPr>
        <p:cNvGrpSpPr/>
        <p:nvPr/>
      </p:nvGrpSpPr>
      <p:grpSpPr>
        <a:xfrm>
          <a:off x="0" y="0"/>
          <a:ext cx="0" cy="0"/>
          <a:chOff x="0" y="0"/>
          <a:chExt cx="0" cy="0"/>
        </a:xfrm>
      </p:grpSpPr>
      <p:pic>
        <p:nvPicPr>
          <p:cNvPr id="3" name="Image 1" descr="preencoded.png">
            <a:extLst>
              <a:ext uri="{FF2B5EF4-FFF2-40B4-BE49-F238E27FC236}">
                <a16:creationId xmlns:a16="http://schemas.microsoft.com/office/drawing/2014/main" id="{9FBA8E32-559F-95E3-1B2D-F4B0D8C48D2F}"/>
              </a:ext>
            </a:extLst>
          </p:cNvPr>
          <p:cNvPicPr>
            <a:picLocks noChangeAspect="1"/>
          </p:cNvPicPr>
          <p:nvPr/>
        </p:nvPicPr>
        <p:blipFill>
          <a:blip r:embed="rId3"/>
          <a:srcRect/>
          <a:stretch/>
        </p:blipFill>
        <p:spPr>
          <a:xfrm>
            <a:off x="634984" y="507987"/>
            <a:ext cx="1269968" cy="1142971"/>
          </a:xfrm>
          <a:prstGeom prst="rect">
            <a:avLst/>
          </a:prstGeom>
        </p:spPr>
      </p:pic>
      <p:pic>
        <p:nvPicPr>
          <p:cNvPr id="4" name="Image 2" descr="preencoded.png">
            <a:extLst>
              <a:ext uri="{FF2B5EF4-FFF2-40B4-BE49-F238E27FC236}">
                <a16:creationId xmlns:a16="http://schemas.microsoft.com/office/drawing/2014/main" id="{3CD18A23-F781-F957-3EA4-F6D5F1FF8C0A}"/>
              </a:ext>
            </a:extLst>
          </p:cNvPr>
          <p:cNvPicPr>
            <a:picLocks noChangeAspect="1"/>
          </p:cNvPicPr>
          <p:nvPr/>
        </p:nvPicPr>
        <p:blipFill>
          <a:blip r:embed="rId4"/>
          <a:srcRect/>
          <a:stretch/>
        </p:blipFill>
        <p:spPr>
          <a:xfrm>
            <a:off x="8381790" y="0"/>
            <a:ext cx="3764185" cy="2031949"/>
          </a:xfrm>
          <a:prstGeom prst="rect">
            <a:avLst/>
          </a:prstGeom>
        </p:spPr>
      </p:pic>
      <p:sp>
        <p:nvSpPr>
          <p:cNvPr id="5" name="Text 0">
            <a:extLst>
              <a:ext uri="{FF2B5EF4-FFF2-40B4-BE49-F238E27FC236}">
                <a16:creationId xmlns:a16="http://schemas.microsoft.com/office/drawing/2014/main" id="{D69C582F-32F8-26B2-DC1C-807B1438924D}"/>
              </a:ext>
            </a:extLst>
          </p:cNvPr>
          <p:cNvSpPr/>
          <p:nvPr/>
        </p:nvSpPr>
        <p:spPr>
          <a:xfrm>
            <a:off x="1015976" y="42967"/>
            <a:ext cx="10159746" cy="888978"/>
          </a:xfrm>
          <a:prstGeom prst="rect">
            <a:avLst/>
          </a:prstGeom>
          <a:noFill/>
          <a:ln/>
        </p:spPr>
        <p:txBody>
          <a:bodyPr wrap="square" lIns="0" tIns="0" rIns="0" bIns="0" rtlCol="0" anchor="t"/>
          <a:lstStyle/>
          <a:p>
            <a:pPr marL="0" indent="0" algn="ctr">
              <a:lnSpc>
                <a:spcPct val="120000"/>
              </a:lnSpc>
              <a:buNone/>
            </a:pPr>
            <a:r>
              <a:rPr lang="en-US" sz="3000" b="1" dirty="0">
                <a:solidFill>
                  <a:srgbClr val="2D3436"/>
                </a:solidFill>
                <a:latin typeface="Calibri" pitchFamily="34" charset="0"/>
                <a:ea typeface="Calibri" pitchFamily="34" charset="-122"/>
                <a:cs typeface="Calibri" pitchFamily="34" charset="-120"/>
              </a:rPr>
              <a:t>Flowchart 
</a:t>
            </a:r>
            <a:endParaRPr lang="en-US" sz="3000" dirty="0"/>
          </a:p>
        </p:txBody>
      </p:sp>
      <p:graphicFrame>
        <p:nvGraphicFramePr>
          <p:cNvPr id="18" name="Diagram 17">
            <a:extLst>
              <a:ext uri="{FF2B5EF4-FFF2-40B4-BE49-F238E27FC236}">
                <a16:creationId xmlns:a16="http://schemas.microsoft.com/office/drawing/2014/main" id="{2CD29249-BEC5-F34A-55EF-F185B5255CD0}"/>
              </a:ext>
            </a:extLst>
          </p:cNvPr>
          <p:cNvGraphicFramePr/>
          <p:nvPr>
            <p:extLst>
              <p:ext uri="{D42A27DB-BD31-4B8C-83A1-F6EECF244321}">
                <p14:modId xmlns:p14="http://schemas.microsoft.com/office/powerpoint/2010/main" val="1616615008"/>
              </p:ext>
            </p:extLst>
          </p:nvPr>
        </p:nvGraphicFramePr>
        <p:xfrm>
          <a:off x="1251398" y="2275652"/>
          <a:ext cx="10159746" cy="4825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Text 4">
            <a:extLst>
              <a:ext uri="{FF2B5EF4-FFF2-40B4-BE49-F238E27FC236}">
                <a16:creationId xmlns:a16="http://schemas.microsoft.com/office/drawing/2014/main" id="{2680DB93-00F0-E03A-7E98-3820204BC842}"/>
              </a:ext>
            </a:extLst>
          </p:cNvPr>
          <p:cNvSpPr/>
          <p:nvPr/>
        </p:nvSpPr>
        <p:spPr>
          <a:xfrm>
            <a:off x="1015975" y="3547289"/>
            <a:ext cx="10159746" cy="800080"/>
          </a:xfrm>
          <a:prstGeom prst="rect">
            <a:avLst/>
          </a:prstGeom>
          <a:noFill/>
          <a:ln/>
        </p:spPr>
        <p:txBody>
          <a:bodyPr wrap="square" lIns="0" tIns="0" rIns="0" bIns="0" rtlCol="0" anchor="t"/>
          <a:lstStyle/>
          <a:p>
            <a:pPr marL="0" indent="0" algn="l">
              <a:lnSpc>
                <a:spcPct val="150000"/>
              </a:lnSpc>
              <a:buNone/>
            </a:pPr>
            <a:endParaRPr lang="en-US" sz="1400" dirty="0"/>
          </a:p>
        </p:txBody>
      </p:sp>
      <p:sp>
        <p:nvSpPr>
          <p:cNvPr id="10" name="Text 5">
            <a:extLst>
              <a:ext uri="{FF2B5EF4-FFF2-40B4-BE49-F238E27FC236}">
                <a16:creationId xmlns:a16="http://schemas.microsoft.com/office/drawing/2014/main" id="{83B26008-14E1-C04A-BA19-C40AC91A8C82}"/>
              </a:ext>
            </a:extLst>
          </p:cNvPr>
          <p:cNvSpPr/>
          <p:nvPr/>
        </p:nvSpPr>
        <p:spPr>
          <a:xfrm>
            <a:off x="1015975" y="4267093"/>
            <a:ext cx="10159746" cy="482588"/>
          </a:xfrm>
          <a:prstGeom prst="rect">
            <a:avLst/>
          </a:prstGeom>
          <a:noFill/>
          <a:ln/>
        </p:spPr>
        <p:txBody>
          <a:bodyPr wrap="square" lIns="0" tIns="0" rIns="0" bIns="0" rtlCol="0" anchor="t"/>
          <a:lstStyle/>
          <a:p>
            <a:pPr marL="0" indent="0" algn="l">
              <a:lnSpc>
                <a:spcPct val="120000"/>
              </a:lnSpc>
              <a:buNone/>
            </a:pPr>
            <a:endParaRPr lang="en-US" sz="1600" dirty="0"/>
          </a:p>
        </p:txBody>
      </p:sp>
      <p:sp>
        <p:nvSpPr>
          <p:cNvPr id="11" name="Text 6">
            <a:extLst>
              <a:ext uri="{FF2B5EF4-FFF2-40B4-BE49-F238E27FC236}">
                <a16:creationId xmlns:a16="http://schemas.microsoft.com/office/drawing/2014/main" id="{468858B1-5F7A-B59A-EFC3-1B6839E13CFF}"/>
              </a:ext>
            </a:extLst>
          </p:cNvPr>
          <p:cNvSpPr/>
          <p:nvPr/>
        </p:nvSpPr>
        <p:spPr>
          <a:xfrm>
            <a:off x="1015976" y="4601244"/>
            <a:ext cx="10630592" cy="800080"/>
          </a:xfrm>
          <a:prstGeom prst="rect">
            <a:avLst/>
          </a:prstGeom>
          <a:noFill/>
          <a:ln/>
        </p:spPr>
        <p:txBody>
          <a:bodyPr wrap="square" lIns="0" tIns="0" rIns="0" bIns="0" rtlCol="0" anchor="t"/>
          <a:lstStyle/>
          <a:p>
            <a:pPr marL="0" indent="0" algn="l">
              <a:lnSpc>
                <a:spcPct val="150000"/>
              </a:lnSpc>
              <a:buNone/>
            </a:pPr>
            <a:endParaRPr lang="en-US" sz="1400" dirty="0"/>
          </a:p>
        </p:txBody>
      </p:sp>
      <p:sp>
        <p:nvSpPr>
          <p:cNvPr id="12" name="Text 7">
            <a:extLst>
              <a:ext uri="{FF2B5EF4-FFF2-40B4-BE49-F238E27FC236}">
                <a16:creationId xmlns:a16="http://schemas.microsoft.com/office/drawing/2014/main" id="{EBDE03B7-ED4B-47E6-F786-86D346468ABD}"/>
              </a:ext>
            </a:extLst>
          </p:cNvPr>
          <p:cNvSpPr/>
          <p:nvPr/>
        </p:nvSpPr>
        <p:spPr>
          <a:xfrm>
            <a:off x="1015975" y="5295768"/>
            <a:ext cx="10159746" cy="482588"/>
          </a:xfrm>
          <a:prstGeom prst="rect">
            <a:avLst/>
          </a:prstGeom>
          <a:noFill/>
          <a:ln/>
        </p:spPr>
        <p:txBody>
          <a:bodyPr wrap="square" lIns="0" tIns="0" rIns="0" bIns="0" rtlCol="0" anchor="t"/>
          <a:lstStyle/>
          <a:p>
            <a:pPr marL="0" indent="0" algn="l">
              <a:lnSpc>
                <a:spcPct val="120000"/>
              </a:lnSpc>
              <a:buNone/>
            </a:pPr>
            <a:endParaRPr lang="en-US" sz="1600" dirty="0"/>
          </a:p>
        </p:txBody>
      </p:sp>
      <p:sp>
        <p:nvSpPr>
          <p:cNvPr id="13" name="Text 8">
            <a:extLst>
              <a:ext uri="{FF2B5EF4-FFF2-40B4-BE49-F238E27FC236}">
                <a16:creationId xmlns:a16="http://schemas.microsoft.com/office/drawing/2014/main" id="{A3F18A3B-CA44-0D12-FAAC-DB1CECB79074}"/>
              </a:ext>
            </a:extLst>
          </p:cNvPr>
          <p:cNvSpPr/>
          <p:nvPr/>
        </p:nvSpPr>
        <p:spPr>
          <a:xfrm>
            <a:off x="1015975" y="5629918"/>
            <a:ext cx="10159746" cy="800080"/>
          </a:xfrm>
          <a:prstGeom prst="rect">
            <a:avLst/>
          </a:prstGeom>
          <a:noFill/>
          <a:ln/>
        </p:spPr>
        <p:txBody>
          <a:bodyPr wrap="square" lIns="0" tIns="0" rIns="0" bIns="0" rtlCol="0" anchor="t"/>
          <a:lstStyle/>
          <a:p>
            <a:pPr marL="0" indent="0" algn="l">
              <a:lnSpc>
                <a:spcPct val="150000"/>
              </a:lnSpc>
              <a:buNone/>
            </a:pPr>
            <a:endParaRPr lang="en-US" sz="1400" dirty="0"/>
          </a:p>
        </p:txBody>
      </p:sp>
      <p:pic>
        <p:nvPicPr>
          <p:cNvPr id="1026" name="Picture 2">
            <a:extLst>
              <a:ext uri="{FF2B5EF4-FFF2-40B4-BE49-F238E27FC236}">
                <a16:creationId xmlns:a16="http://schemas.microsoft.com/office/drawing/2014/main" id="{0697FAE0-F432-B81F-0E33-E2FF8A90B7B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1824" y="507986"/>
            <a:ext cx="7435215" cy="7711453"/>
          </a:xfrm>
          <a:prstGeom prst="rect">
            <a:avLst/>
          </a:prstGeom>
          <a:noFill/>
          <a:extLst>
            <a:ext uri="{909E8E84-426E-40DD-AFC4-6F175D3DCCD1}">
              <a14:hiddenFill xmlns:a14="http://schemas.microsoft.com/office/drawing/2010/main">
                <a:solidFill>
                  <a:srgbClr val="FFFFFF"/>
                </a:solidFill>
              </a14:hiddenFill>
            </a:ext>
          </a:extLst>
        </p:spPr>
      </p:pic>
      <p:pic>
        <p:nvPicPr>
          <p:cNvPr id="67" name="Image 0" descr="preencoded.png">
            <a:extLst>
              <a:ext uri="{FF2B5EF4-FFF2-40B4-BE49-F238E27FC236}">
                <a16:creationId xmlns:a16="http://schemas.microsoft.com/office/drawing/2014/main" id="{8FD7F182-FB7C-74D4-1CC1-9D82293910C3}"/>
              </a:ext>
            </a:extLst>
          </p:cNvPr>
          <p:cNvPicPr>
            <a:picLocks noChangeAspect="1"/>
          </p:cNvPicPr>
          <p:nvPr/>
        </p:nvPicPr>
        <p:blipFill>
          <a:blip r:embed="rId11"/>
          <a:srcRect/>
          <a:stretch/>
        </p:blipFill>
        <p:spPr>
          <a:xfrm>
            <a:off x="0" y="4952876"/>
            <a:ext cx="3809905" cy="1859404"/>
          </a:xfrm>
          <a:prstGeom prst="rect">
            <a:avLst/>
          </a:prstGeom>
        </p:spPr>
      </p:pic>
    </p:spTree>
    <p:extLst>
      <p:ext uri="{BB962C8B-B14F-4D97-AF65-F5344CB8AC3E}">
        <p14:creationId xmlns:p14="http://schemas.microsoft.com/office/powerpoint/2010/main" val="1112732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728960" y="-975360"/>
            <a:ext cx="3048000" cy="2682240"/>
          </a:xfrm>
          <a:prstGeom prst="ellipse">
            <a:avLst/>
          </a:prstGeom>
          <a:solidFill>
            <a:srgbClr val="5AADA0"/>
          </a:solidFill>
          <a:ln w="12700">
            <a:solidFill>
              <a:srgbClr val="5AADA0"/>
            </a:solidFill>
            <a:prstDash val="solid"/>
          </a:ln>
        </p:spPr>
      </p:sp>
      <p:sp>
        <p:nvSpPr>
          <p:cNvPr id="3" name="Shape 1"/>
          <p:cNvSpPr/>
          <p:nvPr/>
        </p:nvSpPr>
        <p:spPr>
          <a:xfrm>
            <a:off x="-731520" y="4754880"/>
            <a:ext cx="3901440" cy="3413760"/>
          </a:xfrm>
          <a:prstGeom prst="ellipse">
            <a:avLst/>
          </a:prstGeom>
          <a:solidFill>
            <a:srgbClr val="F5C842"/>
          </a:solidFill>
          <a:ln w="12700">
            <a:solidFill>
              <a:srgbClr val="F5C842"/>
            </a:solidFill>
            <a:prstDash val="solid"/>
          </a:ln>
        </p:spPr>
      </p:sp>
      <p:sp>
        <p:nvSpPr>
          <p:cNvPr id="4" name="Shape 2"/>
          <p:cNvSpPr/>
          <p:nvPr/>
        </p:nvSpPr>
        <p:spPr>
          <a:xfrm>
            <a:off x="219456" y="268224"/>
            <a:ext cx="73152" cy="73152"/>
          </a:xfrm>
          <a:prstGeom prst="ellipse">
            <a:avLst/>
          </a:prstGeom>
          <a:solidFill>
            <a:srgbClr val="E8623A"/>
          </a:solidFill>
          <a:ln w="12700">
            <a:solidFill>
              <a:srgbClr val="E8623A"/>
            </a:solidFill>
            <a:prstDash val="solid"/>
          </a:ln>
        </p:spPr>
      </p:sp>
      <p:sp>
        <p:nvSpPr>
          <p:cNvPr id="5" name="Shape 3"/>
          <p:cNvSpPr/>
          <p:nvPr/>
        </p:nvSpPr>
        <p:spPr>
          <a:xfrm>
            <a:off x="341376" y="170688"/>
            <a:ext cx="60960" cy="60960"/>
          </a:xfrm>
          <a:prstGeom prst="ellipse">
            <a:avLst/>
          </a:prstGeom>
          <a:solidFill>
            <a:srgbClr val="E8623A"/>
          </a:solidFill>
          <a:ln w="12700">
            <a:solidFill>
              <a:srgbClr val="E8623A"/>
            </a:solidFill>
            <a:prstDash val="solid"/>
          </a:ln>
        </p:spPr>
      </p:sp>
      <p:sp>
        <p:nvSpPr>
          <p:cNvPr id="6" name="Shape 4"/>
          <p:cNvSpPr/>
          <p:nvPr/>
        </p:nvSpPr>
        <p:spPr>
          <a:xfrm>
            <a:off x="463296" y="243840"/>
            <a:ext cx="73152" cy="73152"/>
          </a:xfrm>
          <a:prstGeom prst="ellipse">
            <a:avLst/>
          </a:prstGeom>
          <a:solidFill>
            <a:srgbClr val="E8623A"/>
          </a:solidFill>
          <a:ln w="12700">
            <a:solidFill>
              <a:srgbClr val="E8623A"/>
            </a:solidFill>
            <a:prstDash val="solid"/>
          </a:ln>
        </p:spPr>
      </p:sp>
      <p:sp>
        <p:nvSpPr>
          <p:cNvPr id="7" name="Shape 5"/>
          <p:cNvSpPr/>
          <p:nvPr/>
        </p:nvSpPr>
        <p:spPr>
          <a:xfrm>
            <a:off x="146304" y="390144"/>
            <a:ext cx="60960" cy="60960"/>
          </a:xfrm>
          <a:prstGeom prst="ellipse">
            <a:avLst/>
          </a:prstGeom>
          <a:solidFill>
            <a:srgbClr val="E8623A"/>
          </a:solidFill>
          <a:ln w="12700">
            <a:solidFill>
              <a:srgbClr val="E8623A"/>
            </a:solidFill>
            <a:prstDash val="solid"/>
          </a:ln>
        </p:spPr>
      </p:sp>
      <p:sp>
        <p:nvSpPr>
          <p:cNvPr id="8" name="Shape 6"/>
          <p:cNvSpPr/>
          <p:nvPr/>
        </p:nvSpPr>
        <p:spPr>
          <a:xfrm>
            <a:off x="268224" y="463296"/>
            <a:ext cx="60960" cy="60960"/>
          </a:xfrm>
          <a:prstGeom prst="ellipse">
            <a:avLst/>
          </a:prstGeom>
          <a:solidFill>
            <a:srgbClr val="E8623A"/>
          </a:solidFill>
          <a:ln w="12700">
            <a:solidFill>
              <a:srgbClr val="E8623A"/>
            </a:solidFill>
            <a:prstDash val="solid"/>
          </a:ln>
        </p:spPr>
      </p:sp>
      <p:sp>
        <p:nvSpPr>
          <p:cNvPr id="9" name="Shape 7"/>
          <p:cNvSpPr/>
          <p:nvPr/>
        </p:nvSpPr>
        <p:spPr>
          <a:xfrm>
            <a:off x="414528" y="414528"/>
            <a:ext cx="48768" cy="48768"/>
          </a:xfrm>
          <a:prstGeom prst="ellipse">
            <a:avLst/>
          </a:prstGeom>
          <a:solidFill>
            <a:srgbClr val="E8623A"/>
          </a:solidFill>
          <a:ln w="12700">
            <a:solidFill>
              <a:srgbClr val="E8623A"/>
            </a:solidFill>
            <a:prstDash val="solid"/>
          </a:ln>
        </p:spPr>
      </p:sp>
      <p:sp>
        <p:nvSpPr>
          <p:cNvPr id="10" name="Text 8"/>
          <p:cNvSpPr/>
          <p:nvPr/>
        </p:nvSpPr>
        <p:spPr>
          <a:xfrm>
            <a:off x="548640" y="341376"/>
            <a:ext cx="9144000" cy="670560"/>
          </a:xfrm>
          <a:prstGeom prst="rect">
            <a:avLst/>
          </a:prstGeom>
          <a:noFill/>
          <a:ln/>
        </p:spPr>
        <p:txBody>
          <a:bodyPr wrap="square" lIns="0" tIns="0" rIns="0" bIns="0" rtlCol="0" anchor="ctr"/>
          <a:lstStyle/>
          <a:p>
            <a:r>
              <a:rPr lang="en-US" sz="4267" b="1" dirty="0">
                <a:solidFill>
                  <a:srgbClr val="1A1A1A"/>
                </a:solidFill>
                <a:latin typeface="Calibri" pitchFamily="34" charset="0"/>
                <a:ea typeface="Calibri" pitchFamily="34" charset="-122"/>
                <a:cs typeface="Calibri" pitchFamily="34" charset="-120"/>
              </a:rPr>
              <a:t>Implementation</a:t>
            </a:r>
            <a:endParaRPr lang="en-US" sz="4267" dirty="0"/>
          </a:p>
        </p:txBody>
      </p:sp>
      <p:sp>
        <p:nvSpPr>
          <p:cNvPr id="11" name="Shape 9"/>
          <p:cNvSpPr/>
          <p:nvPr/>
        </p:nvSpPr>
        <p:spPr>
          <a:xfrm>
            <a:off x="548640" y="1280160"/>
            <a:ext cx="5547360" cy="1402080"/>
          </a:xfrm>
          <a:prstGeom prst="roundRect">
            <a:avLst>
              <a:gd name="adj" fmla="val 6957"/>
            </a:avLst>
          </a:prstGeom>
          <a:solidFill>
            <a:srgbClr val="F8F9FA"/>
          </a:solidFill>
          <a:ln w="6350">
            <a:solidFill>
              <a:srgbClr val="E0E0E0"/>
            </a:solidFill>
            <a:prstDash val="solid"/>
          </a:ln>
        </p:spPr>
      </p:sp>
      <p:sp>
        <p:nvSpPr>
          <p:cNvPr id="12" name="Shape 10"/>
          <p:cNvSpPr/>
          <p:nvPr/>
        </p:nvSpPr>
        <p:spPr>
          <a:xfrm>
            <a:off x="646176" y="1377696"/>
            <a:ext cx="463296" cy="463296"/>
          </a:xfrm>
          <a:prstGeom prst="rect">
            <a:avLst/>
          </a:prstGeom>
          <a:solidFill>
            <a:srgbClr val="5AADA0"/>
          </a:solidFill>
          <a:ln w="12700">
            <a:solidFill>
              <a:srgbClr val="5AADA0"/>
            </a:solidFill>
            <a:prstDash val="solid"/>
          </a:ln>
        </p:spPr>
      </p:sp>
      <p:sp>
        <p:nvSpPr>
          <p:cNvPr id="13" name="Text 11"/>
          <p:cNvSpPr/>
          <p:nvPr/>
        </p:nvSpPr>
        <p:spPr>
          <a:xfrm>
            <a:off x="646176" y="1377696"/>
            <a:ext cx="463296"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01</a:t>
            </a:r>
            <a:endParaRPr lang="en-US" sz="1333" dirty="0"/>
          </a:p>
        </p:txBody>
      </p:sp>
      <p:sp>
        <p:nvSpPr>
          <p:cNvPr id="14" name="Text 12"/>
          <p:cNvSpPr/>
          <p:nvPr/>
        </p:nvSpPr>
        <p:spPr>
          <a:xfrm>
            <a:off x="1207008" y="1377696"/>
            <a:ext cx="4754880" cy="390144"/>
          </a:xfrm>
          <a:prstGeom prst="rect">
            <a:avLst/>
          </a:prstGeom>
          <a:noFill/>
          <a:ln/>
        </p:spPr>
        <p:txBody>
          <a:bodyPr wrap="square" lIns="0" tIns="0" rIns="0" bIns="0" rtlCol="0" anchor="ctr"/>
          <a:lstStyle/>
          <a:p>
            <a:r>
              <a:rPr lang="en-US" sz="1467" b="1" dirty="0">
                <a:solidFill>
                  <a:srgbClr val="1A1A1A"/>
                </a:solidFill>
                <a:latin typeface="Calibri" pitchFamily="34" charset="0"/>
                <a:ea typeface="Calibri" pitchFamily="34" charset="-122"/>
                <a:cs typeface="Calibri" pitchFamily="34" charset="-120"/>
              </a:rPr>
              <a:t>Frontend – React.js &amp; Tailwind CSS</a:t>
            </a:r>
            <a:endParaRPr lang="en-US" sz="1467" dirty="0"/>
          </a:p>
        </p:txBody>
      </p:sp>
      <p:sp>
        <p:nvSpPr>
          <p:cNvPr id="15" name="Text 13"/>
          <p:cNvSpPr/>
          <p:nvPr/>
        </p:nvSpPr>
        <p:spPr>
          <a:xfrm>
            <a:off x="646176" y="1816608"/>
            <a:ext cx="5352288" cy="768096"/>
          </a:xfrm>
          <a:prstGeom prst="rect">
            <a:avLst/>
          </a:prstGeom>
          <a:noFill/>
          <a:ln/>
        </p:spPr>
        <p:txBody>
          <a:bodyPr wrap="square" lIns="0" tIns="0" rIns="0" bIns="0" rtlCol="0" anchor="t"/>
          <a:lstStyle/>
          <a:p>
            <a:r>
              <a:rPr lang="en-US" sz="1267" dirty="0">
                <a:solidFill>
                  <a:srgbClr val="444444"/>
                </a:solidFill>
                <a:latin typeface="Calibri" pitchFamily="34" charset="0"/>
                <a:ea typeface="Calibri" pitchFamily="34" charset="-122"/>
                <a:cs typeface="Calibri" pitchFamily="34" charset="-120"/>
              </a:rPr>
              <a:t>Built with React.js for component-based UI and Tailwind CSS for responsive, mobile-friendly styling. Routing handled via React Router for seamless single-page navigation.</a:t>
            </a:r>
            <a:endParaRPr lang="en-US" sz="1267" dirty="0"/>
          </a:p>
        </p:txBody>
      </p:sp>
      <p:sp>
        <p:nvSpPr>
          <p:cNvPr id="16" name="Shape 14"/>
          <p:cNvSpPr/>
          <p:nvPr/>
        </p:nvSpPr>
        <p:spPr>
          <a:xfrm>
            <a:off x="6339840" y="1280160"/>
            <a:ext cx="5547360" cy="1402080"/>
          </a:xfrm>
          <a:prstGeom prst="roundRect">
            <a:avLst>
              <a:gd name="adj" fmla="val 6957"/>
            </a:avLst>
          </a:prstGeom>
          <a:solidFill>
            <a:srgbClr val="F8F9FA"/>
          </a:solidFill>
          <a:ln w="6350">
            <a:solidFill>
              <a:srgbClr val="E0E0E0"/>
            </a:solidFill>
            <a:prstDash val="solid"/>
          </a:ln>
        </p:spPr>
      </p:sp>
      <p:sp>
        <p:nvSpPr>
          <p:cNvPr id="17" name="Shape 15"/>
          <p:cNvSpPr/>
          <p:nvPr/>
        </p:nvSpPr>
        <p:spPr>
          <a:xfrm>
            <a:off x="6437376" y="1377696"/>
            <a:ext cx="463296" cy="463296"/>
          </a:xfrm>
          <a:prstGeom prst="rect">
            <a:avLst/>
          </a:prstGeom>
          <a:solidFill>
            <a:srgbClr val="5AADA0"/>
          </a:solidFill>
          <a:ln w="12700">
            <a:solidFill>
              <a:srgbClr val="5AADA0"/>
            </a:solidFill>
            <a:prstDash val="solid"/>
          </a:ln>
        </p:spPr>
      </p:sp>
      <p:sp>
        <p:nvSpPr>
          <p:cNvPr id="18" name="Text 16"/>
          <p:cNvSpPr/>
          <p:nvPr/>
        </p:nvSpPr>
        <p:spPr>
          <a:xfrm>
            <a:off x="6437376" y="1377696"/>
            <a:ext cx="463296"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02</a:t>
            </a:r>
            <a:endParaRPr lang="en-US" sz="1333" dirty="0"/>
          </a:p>
        </p:txBody>
      </p:sp>
      <p:sp>
        <p:nvSpPr>
          <p:cNvPr id="19" name="Text 17"/>
          <p:cNvSpPr/>
          <p:nvPr/>
        </p:nvSpPr>
        <p:spPr>
          <a:xfrm>
            <a:off x="6998208" y="1377696"/>
            <a:ext cx="4754880" cy="390144"/>
          </a:xfrm>
          <a:prstGeom prst="rect">
            <a:avLst/>
          </a:prstGeom>
          <a:noFill/>
          <a:ln/>
        </p:spPr>
        <p:txBody>
          <a:bodyPr wrap="square" lIns="0" tIns="0" rIns="0" bIns="0" rtlCol="0" anchor="ctr"/>
          <a:lstStyle/>
          <a:p>
            <a:r>
              <a:rPr lang="en-US" sz="1467" b="1" dirty="0">
                <a:solidFill>
                  <a:srgbClr val="1A1A1A"/>
                </a:solidFill>
                <a:latin typeface="Calibri" pitchFamily="34" charset="0"/>
                <a:ea typeface="Calibri" pitchFamily="34" charset="-122"/>
                <a:cs typeface="Calibri" pitchFamily="34" charset="-120"/>
              </a:rPr>
              <a:t>Backend – Node.js &amp; Express.js</a:t>
            </a:r>
            <a:endParaRPr lang="en-US" sz="1467" dirty="0"/>
          </a:p>
        </p:txBody>
      </p:sp>
      <p:sp>
        <p:nvSpPr>
          <p:cNvPr id="20" name="Text 18"/>
          <p:cNvSpPr/>
          <p:nvPr/>
        </p:nvSpPr>
        <p:spPr>
          <a:xfrm>
            <a:off x="6437376" y="1816608"/>
            <a:ext cx="5352288" cy="768096"/>
          </a:xfrm>
          <a:prstGeom prst="rect">
            <a:avLst/>
          </a:prstGeom>
          <a:noFill/>
          <a:ln/>
        </p:spPr>
        <p:txBody>
          <a:bodyPr wrap="square" lIns="0" tIns="0" rIns="0" bIns="0" rtlCol="0" anchor="t"/>
          <a:lstStyle/>
          <a:p>
            <a:r>
              <a:rPr lang="en-US" sz="1267" dirty="0">
                <a:solidFill>
                  <a:srgbClr val="444444"/>
                </a:solidFill>
                <a:latin typeface="Calibri" pitchFamily="34" charset="0"/>
                <a:ea typeface="Calibri" pitchFamily="34" charset="-122"/>
                <a:cs typeface="Calibri" pitchFamily="34" charset="-120"/>
              </a:rPr>
              <a:t>Express.js server manages room lifecycle and acts as the signaling relay. No user data is persisted on the server; all business logic stays stateless.</a:t>
            </a:r>
            <a:endParaRPr lang="en-US" sz="1267" dirty="0"/>
          </a:p>
        </p:txBody>
      </p:sp>
      <p:sp>
        <p:nvSpPr>
          <p:cNvPr id="21" name="Shape 19"/>
          <p:cNvSpPr/>
          <p:nvPr/>
        </p:nvSpPr>
        <p:spPr>
          <a:xfrm>
            <a:off x="548640" y="2901696"/>
            <a:ext cx="5547360" cy="1402080"/>
          </a:xfrm>
          <a:prstGeom prst="roundRect">
            <a:avLst>
              <a:gd name="adj" fmla="val 6957"/>
            </a:avLst>
          </a:prstGeom>
          <a:solidFill>
            <a:srgbClr val="F8F9FA"/>
          </a:solidFill>
          <a:ln w="6350">
            <a:solidFill>
              <a:srgbClr val="E0E0E0"/>
            </a:solidFill>
            <a:prstDash val="solid"/>
          </a:ln>
        </p:spPr>
      </p:sp>
      <p:sp>
        <p:nvSpPr>
          <p:cNvPr id="22" name="Shape 20"/>
          <p:cNvSpPr/>
          <p:nvPr/>
        </p:nvSpPr>
        <p:spPr>
          <a:xfrm>
            <a:off x="646176" y="2999232"/>
            <a:ext cx="463296" cy="463296"/>
          </a:xfrm>
          <a:prstGeom prst="rect">
            <a:avLst/>
          </a:prstGeom>
          <a:solidFill>
            <a:srgbClr val="5AADA0"/>
          </a:solidFill>
          <a:ln w="12700">
            <a:solidFill>
              <a:srgbClr val="5AADA0"/>
            </a:solidFill>
            <a:prstDash val="solid"/>
          </a:ln>
        </p:spPr>
      </p:sp>
      <p:sp>
        <p:nvSpPr>
          <p:cNvPr id="23" name="Text 21"/>
          <p:cNvSpPr/>
          <p:nvPr/>
        </p:nvSpPr>
        <p:spPr>
          <a:xfrm>
            <a:off x="646176" y="2999232"/>
            <a:ext cx="463296"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03</a:t>
            </a:r>
            <a:endParaRPr lang="en-US" sz="1333" dirty="0"/>
          </a:p>
        </p:txBody>
      </p:sp>
      <p:sp>
        <p:nvSpPr>
          <p:cNvPr id="24" name="Text 22"/>
          <p:cNvSpPr/>
          <p:nvPr/>
        </p:nvSpPr>
        <p:spPr>
          <a:xfrm>
            <a:off x="1207008" y="2999232"/>
            <a:ext cx="4754880" cy="390144"/>
          </a:xfrm>
          <a:prstGeom prst="rect">
            <a:avLst/>
          </a:prstGeom>
          <a:noFill/>
          <a:ln/>
        </p:spPr>
        <p:txBody>
          <a:bodyPr wrap="square" lIns="0" tIns="0" rIns="0" bIns="0" rtlCol="0" anchor="ctr"/>
          <a:lstStyle/>
          <a:p>
            <a:r>
              <a:rPr lang="en-US" sz="1467" b="1" dirty="0">
                <a:solidFill>
                  <a:srgbClr val="1A1A1A"/>
                </a:solidFill>
                <a:latin typeface="Calibri" pitchFamily="34" charset="0"/>
                <a:ea typeface="Calibri" pitchFamily="34" charset="-122"/>
                <a:cs typeface="Calibri" pitchFamily="34" charset="-120"/>
              </a:rPr>
              <a:t>Real-Time Messaging – Socket.IO</a:t>
            </a:r>
            <a:endParaRPr lang="en-US" sz="1467" dirty="0"/>
          </a:p>
        </p:txBody>
      </p:sp>
      <p:sp>
        <p:nvSpPr>
          <p:cNvPr id="25" name="Text 23"/>
          <p:cNvSpPr/>
          <p:nvPr/>
        </p:nvSpPr>
        <p:spPr>
          <a:xfrm>
            <a:off x="646176" y="3438144"/>
            <a:ext cx="5352288" cy="768096"/>
          </a:xfrm>
          <a:prstGeom prst="rect">
            <a:avLst/>
          </a:prstGeom>
          <a:noFill/>
          <a:ln/>
        </p:spPr>
        <p:txBody>
          <a:bodyPr wrap="square" lIns="0" tIns="0" rIns="0" bIns="0" rtlCol="0" anchor="t"/>
          <a:lstStyle/>
          <a:p>
            <a:r>
              <a:rPr lang="en-US" sz="1267" dirty="0">
                <a:solidFill>
                  <a:srgbClr val="444444"/>
                </a:solidFill>
                <a:latin typeface="Calibri" pitchFamily="34" charset="0"/>
                <a:ea typeface="Calibri" pitchFamily="34" charset="-122"/>
                <a:cs typeface="Calibri" pitchFamily="34" charset="-120"/>
              </a:rPr>
              <a:t>Socket.IO enables bidirectional, event-driven communication. Messages are broadcast to room participants in real time and stored only in client-side IndexedDB / LocalStorage.</a:t>
            </a:r>
            <a:endParaRPr lang="en-US" sz="1267" dirty="0"/>
          </a:p>
        </p:txBody>
      </p:sp>
      <p:sp>
        <p:nvSpPr>
          <p:cNvPr id="26" name="Shape 24"/>
          <p:cNvSpPr/>
          <p:nvPr/>
        </p:nvSpPr>
        <p:spPr>
          <a:xfrm>
            <a:off x="6339840" y="2901696"/>
            <a:ext cx="5547360" cy="1402080"/>
          </a:xfrm>
          <a:prstGeom prst="roundRect">
            <a:avLst>
              <a:gd name="adj" fmla="val 6957"/>
            </a:avLst>
          </a:prstGeom>
          <a:solidFill>
            <a:srgbClr val="F8F9FA"/>
          </a:solidFill>
          <a:ln w="6350">
            <a:solidFill>
              <a:srgbClr val="E0E0E0"/>
            </a:solidFill>
            <a:prstDash val="solid"/>
          </a:ln>
        </p:spPr>
      </p:sp>
      <p:sp>
        <p:nvSpPr>
          <p:cNvPr id="27" name="Shape 25"/>
          <p:cNvSpPr/>
          <p:nvPr/>
        </p:nvSpPr>
        <p:spPr>
          <a:xfrm>
            <a:off x="6437376" y="2999232"/>
            <a:ext cx="463296" cy="463296"/>
          </a:xfrm>
          <a:prstGeom prst="rect">
            <a:avLst/>
          </a:prstGeom>
          <a:solidFill>
            <a:srgbClr val="5AADA0"/>
          </a:solidFill>
          <a:ln w="12700">
            <a:solidFill>
              <a:srgbClr val="5AADA0"/>
            </a:solidFill>
            <a:prstDash val="solid"/>
          </a:ln>
        </p:spPr>
      </p:sp>
      <p:sp>
        <p:nvSpPr>
          <p:cNvPr id="28" name="Text 26"/>
          <p:cNvSpPr/>
          <p:nvPr/>
        </p:nvSpPr>
        <p:spPr>
          <a:xfrm>
            <a:off x="6437376" y="2999232"/>
            <a:ext cx="463296"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04</a:t>
            </a:r>
            <a:endParaRPr lang="en-US" sz="1333" dirty="0"/>
          </a:p>
        </p:txBody>
      </p:sp>
      <p:sp>
        <p:nvSpPr>
          <p:cNvPr id="29" name="Text 27"/>
          <p:cNvSpPr/>
          <p:nvPr/>
        </p:nvSpPr>
        <p:spPr>
          <a:xfrm>
            <a:off x="6998208" y="2999232"/>
            <a:ext cx="4754880" cy="390144"/>
          </a:xfrm>
          <a:prstGeom prst="rect">
            <a:avLst/>
          </a:prstGeom>
          <a:noFill/>
          <a:ln/>
        </p:spPr>
        <p:txBody>
          <a:bodyPr wrap="square" lIns="0" tIns="0" rIns="0" bIns="0" rtlCol="0" anchor="ctr"/>
          <a:lstStyle/>
          <a:p>
            <a:r>
              <a:rPr lang="en-US" sz="1467" b="1" dirty="0">
                <a:solidFill>
                  <a:srgbClr val="1A1A1A"/>
                </a:solidFill>
                <a:latin typeface="Calibri" pitchFamily="34" charset="0"/>
                <a:ea typeface="Calibri" pitchFamily="34" charset="-122"/>
                <a:cs typeface="Calibri" pitchFamily="34" charset="-120"/>
              </a:rPr>
              <a:t>Video Calling – WebRTC</a:t>
            </a:r>
            <a:endParaRPr lang="en-US" sz="1467" dirty="0"/>
          </a:p>
        </p:txBody>
      </p:sp>
      <p:sp>
        <p:nvSpPr>
          <p:cNvPr id="30" name="Text 28"/>
          <p:cNvSpPr/>
          <p:nvPr/>
        </p:nvSpPr>
        <p:spPr>
          <a:xfrm>
            <a:off x="6437376" y="3438144"/>
            <a:ext cx="5352288" cy="768096"/>
          </a:xfrm>
          <a:prstGeom prst="rect">
            <a:avLst/>
          </a:prstGeom>
          <a:noFill/>
          <a:ln/>
        </p:spPr>
        <p:txBody>
          <a:bodyPr wrap="square" lIns="0" tIns="0" rIns="0" bIns="0" rtlCol="0" anchor="t"/>
          <a:lstStyle/>
          <a:p>
            <a:r>
              <a:rPr lang="en-US" sz="1267" dirty="0">
                <a:solidFill>
                  <a:srgbClr val="444444"/>
                </a:solidFill>
                <a:latin typeface="Calibri" pitchFamily="34" charset="0"/>
                <a:ea typeface="Calibri" pitchFamily="34" charset="-122"/>
                <a:cs typeface="Calibri" pitchFamily="34" charset="-120"/>
              </a:rPr>
              <a:t>Peer-to-peer video sessions are established via WebRTC with the server acting purely as a signaling channel. This eliminates media relay latency and reduces server load.</a:t>
            </a:r>
            <a:endParaRPr lang="en-US" sz="1267" dirty="0"/>
          </a:p>
        </p:txBody>
      </p:sp>
      <p:sp>
        <p:nvSpPr>
          <p:cNvPr id="31" name="Shape 29"/>
          <p:cNvSpPr/>
          <p:nvPr/>
        </p:nvSpPr>
        <p:spPr>
          <a:xfrm>
            <a:off x="548640" y="4523232"/>
            <a:ext cx="5547360" cy="1402080"/>
          </a:xfrm>
          <a:prstGeom prst="roundRect">
            <a:avLst>
              <a:gd name="adj" fmla="val 6957"/>
            </a:avLst>
          </a:prstGeom>
          <a:solidFill>
            <a:srgbClr val="F8F9FA"/>
          </a:solidFill>
          <a:ln w="6350">
            <a:solidFill>
              <a:srgbClr val="E0E0E0"/>
            </a:solidFill>
            <a:prstDash val="solid"/>
          </a:ln>
        </p:spPr>
      </p:sp>
      <p:sp>
        <p:nvSpPr>
          <p:cNvPr id="32" name="Shape 30"/>
          <p:cNvSpPr/>
          <p:nvPr/>
        </p:nvSpPr>
        <p:spPr>
          <a:xfrm>
            <a:off x="646176" y="4620768"/>
            <a:ext cx="463296" cy="463296"/>
          </a:xfrm>
          <a:prstGeom prst="rect">
            <a:avLst/>
          </a:prstGeom>
          <a:solidFill>
            <a:srgbClr val="5AADA0"/>
          </a:solidFill>
          <a:ln w="12700">
            <a:solidFill>
              <a:srgbClr val="5AADA0"/>
            </a:solidFill>
            <a:prstDash val="solid"/>
          </a:ln>
        </p:spPr>
      </p:sp>
      <p:sp>
        <p:nvSpPr>
          <p:cNvPr id="33" name="Text 31"/>
          <p:cNvSpPr/>
          <p:nvPr/>
        </p:nvSpPr>
        <p:spPr>
          <a:xfrm>
            <a:off x="646176" y="4620768"/>
            <a:ext cx="463296"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05</a:t>
            </a:r>
            <a:endParaRPr lang="en-US" sz="1333" dirty="0"/>
          </a:p>
        </p:txBody>
      </p:sp>
      <p:sp>
        <p:nvSpPr>
          <p:cNvPr id="34" name="Text 32"/>
          <p:cNvSpPr/>
          <p:nvPr/>
        </p:nvSpPr>
        <p:spPr>
          <a:xfrm>
            <a:off x="1207008" y="4620768"/>
            <a:ext cx="4754880" cy="390144"/>
          </a:xfrm>
          <a:prstGeom prst="rect">
            <a:avLst/>
          </a:prstGeom>
          <a:noFill/>
          <a:ln/>
        </p:spPr>
        <p:txBody>
          <a:bodyPr wrap="square" lIns="0" tIns="0" rIns="0" bIns="0" rtlCol="0" anchor="ctr"/>
          <a:lstStyle/>
          <a:p>
            <a:r>
              <a:rPr lang="en-US" sz="1467" b="1" dirty="0">
                <a:solidFill>
                  <a:srgbClr val="1A1A1A"/>
                </a:solidFill>
                <a:latin typeface="Calibri" pitchFamily="34" charset="0"/>
                <a:ea typeface="Calibri" pitchFamily="34" charset="-122"/>
                <a:cs typeface="Calibri" pitchFamily="34" charset="-120"/>
              </a:rPr>
              <a:t>Client-Side Storage</a:t>
            </a:r>
            <a:endParaRPr lang="en-US" sz="1467" dirty="0"/>
          </a:p>
        </p:txBody>
      </p:sp>
      <p:sp>
        <p:nvSpPr>
          <p:cNvPr id="35" name="Text 33"/>
          <p:cNvSpPr/>
          <p:nvPr/>
        </p:nvSpPr>
        <p:spPr>
          <a:xfrm>
            <a:off x="646176" y="5059680"/>
            <a:ext cx="5352288" cy="768096"/>
          </a:xfrm>
          <a:prstGeom prst="rect">
            <a:avLst/>
          </a:prstGeom>
          <a:noFill/>
          <a:ln/>
        </p:spPr>
        <p:txBody>
          <a:bodyPr wrap="square" lIns="0" tIns="0" rIns="0" bIns="0" rtlCol="0" anchor="t"/>
          <a:lstStyle/>
          <a:p>
            <a:r>
              <a:rPr lang="en-US" sz="1267" dirty="0">
                <a:solidFill>
                  <a:srgbClr val="444444"/>
                </a:solidFill>
                <a:latin typeface="Calibri" pitchFamily="34" charset="0"/>
                <a:ea typeface="Calibri" pitchFamily="34" charset="-122"/>
                <a:cs typeface="Calibri" pitchFamily="34" charset="-120"/>
              </a:rPr>
              <a:t>Chat history is retained in the browser using IndexedDB and LocalStorage, giving users full control. Clearing the browser data completely erases all message history.</a:t>
            </a:r>
            <a:endParaRPr lang="en-US" sz="1267" dirty="0"/>
          </a:p>
        </p:txBody>
      </p:sp>
      <p:sp>
        <p:nvSpPr>
          <p:cNvPr id="36" name="Shape 34"/>
          <p:cNvSpPr/>
          <p:nvPr/>
        </p:nvSpPr>
        <p:spPr>
          <a:xfrm>
            <a:off x="6339840" y="4523232"/>
            <a:ext cx="5547360" cy="1402080"/>
          </a:xfrm>
          <a:prstGeom prst="roundRect">
            <a:avLst>
              <a:gd name="adj" fmla="val 6957"/>
            </a:avLst>
          </a:prstGeom>
          <a:solidFill>
            <a:srgbClr val="F8F9FA"/>
          </a:solidFill>
          <a:ln w="6350">
            <a:solidFill>
              <a:srgbClr val="E0E0E0"/>
            </a:solidFill>
            <a:prstDash val="solid"/>
          </a:ln>
        </p:spPr>
      </p:sp>
      <p:sp>
        <p:nvSpPr>
          <p:cNvPr id="37" name="Shape 35"/>
          <p:cNvSpPr/>
          <p:nvPr/>
        </p:nvSpPr>
        <p:spPr>
          <a:xfrm>
            <a:off x="6437376" y="4620768"/>
            <a:ext cx="463296" cy="463296"/>
          </a:xfrm>
          <a:prstGeom prst="rect">
            <a:avLst/>
          </a:prstGeom>
          <a:solidFill>
            <a:srgbClr val="5AADA0"/>
          </a:solidFill>
          <a:ln w="12700">
            <a:solidFill>
              <a:srgbClr val="5AADA0"/>
            </a:solidFill>
            <a:prstDash val="solid"/>
          </a:ln>
        </p:spPr>
      </p:sp>
      <p:sp>
        <p:nvSpPr>
          <p:cNvPr id="38" name="Text 36"/>
          <p:cNvSpPr/>
          <p:nvPr/>
        </p:nvSpPr>
        <p:spPr>
          <a:xfrm>
            <a:off x="6437376" y="4620768"/>
            <a:ext cx="463296"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06</a:t>
            </a:r>
            <a:endParaRPr lang="en-US" sz="1333" dirty="0"/>
          </a:p>
        </p:txBody>
      </p:sp>
      <p:sp>
        <p:nvSpPr>
          <p:cNvPr id="39" name="Text 37"/>
          <p:cNvSpPr/>
          <p:nvPr/>
        </p:nvSpPr>
        <p:spPr>
          <a:xfrm>
            <a:off x="6998208" y="4620768"/>
            <a:ext cx="4754880" cy="390144"/>
          </a:xfrm>
          <a:prstGeom prst="rect">
            <a:avLst/>
          </a:prstGeom>
          <a:noFill/>
          <a:ln/>
        </p:spPr>
        <p:txBody>
          <a:bodyPr wrap="square" lIns="0" tIns="0" rIns="0" bIns="0" rtlCol="0" anchor="ctr"/>
          <a:lstStyle/>
          <a:p>
            <a:r>
              <a:rPr lang="en-US" sz="1467" b="1" dirty="0">
                <a:solidFill>
                  <a:srgbClr val="1A1A1A"/>
                </a:solidFill>
                <a:latin typeface="Calibri" pitchFamily="34" charset="0"/>
                <a:ea typeface="Calibri" pitchFamily="34" charset="-122"/>
                <a:cs typeface="Calibri" pitchFamily="34" charset="-120"/>
              </a:rPr>
              <a:t>AI Chatbot Integration</a:t>
            </a:r>
            <a:endParaRPr lang="en-US" sz="1467" dirty="0"/>
          </a:p>
        </p:txBody>
      </p:sp>
      <p:sp>
        <p:nvSpPr>
          <p:cNvPr id="40" name="Text 38"/>
          <p:cNvSpPr/>
          <p:nvPr/>
        </p:nvSpPr>
        <p:spPr>
          <a:xfrm>
            <a:off x="6437376" y="5059680"/>
            <a:ext cx="5352288" cy="768096"/>
          </a:xfrm>
          <a:prstGeom prst="rect">
            <a:avLst/>
          </a:prstGeom>
          <a:noFill/>
          <a:ln/>
        </p:spPr>
        <p:txBody>
          <a:bodyPr wrap="square" lIns="0" tIns="0" rIns="0" bIns="0" rtlCol="0" anchor="t"/>
          <a:lstStyle/>
          <a:p>
            <a:r>
              <a:rPr lang="en-US" sz="1267" dirty="0">
                <a:solidFill>
                  <a:srgbClr val="444444"/>
                </a:solidFill>
                <a:latin typeface="Calibri" pitchFamily="34" charset="0"/>
                <a:ea typeface="Calibri" pitchFamily="34" charset="-122"/>
                <a:cs typeface="Calibri" pitchFamily="34" charset="-120"/>
              </a:rPr>
              <a:t>An embedded AI chatbot answers questions and explains terms directly inside the chat room. Users can also select any message text to trigger an instant AI-powered explanation.</a:t>
            </a:r>
            <a:endParaRPr lang="en-US" sz="126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p:cNvPicPr>
            <a:picLocks noChangeAspect="1"/>
          </p:cNvPicPr>
          <p:nvPr/>
        </p:nvPicPr>
        <p:blipFill>
          <a:blip r:embed="rId5"/>
          <a:srcRect/>
          <a:stretch/>
        </p:blipFill>
        <p:spPr>
          <a:xfrm>
            <a:off x="8381790" y="0"/>
            <a:ext cx="3764185" cy="2031949"/>
          </a:xfrm>
          <a:prstGeom prst="rect">
            <a:avLst/>
          </a:prstGeom>
        </p:spPr>
      </p:pic>
      <p:sp>
        <p:nvSpPr>
          <p:cNvPr id="5" name="Text 0"/>
          <p:cNvSpPr/>
          <p:nvPr/>
        </p:nvSpPr>
        <p:spPr>
          <a:xfrm>
            <a:off x="1015975" y="634984"/>
            <a:ext cx="10159746" cy="888978"/>
          </a:xfrm>
          <a:prstGeom prst="rect">
            <a:avLst/>
          </a:prstGeom>
          <a:noFill/>
          <a:ln/>
        </p:spPr>
        <p:txBody>
          <a:bodyPr wrap="square" lIns="0" tIns="0" rIns="0" bIns="0" rtlCol="0" anchor="t"/>
          <a:lstStyle/>
          <a:p>
            <a:pPr marL="0" indent="0" algn="l">
              <a:lnSpc>
                <a:spcPct val="120000"/>
              </a:lnSpc>
              <a:buNone/>
            </a:pPr>
            <a:r>
              <a:rPr lang="en-US" sz="3000" b="1" dirty="0">
                <a:latin typeface="Calibri" pitchFamily="34" charset="0"/>
                <a:ea typeface="Calibri" pitchFamily="34" charset="-122"/>
                <a:cs typeface="Calibri" pitchFamily="34" charset="-120"/>
              </a:rPr>
              <a:t>Results
</a:t>
            </a:r>
            <a:endParaRPr lang="en-US" sz="3000" dirty="0"/>
          </a:p>
        </p:txBody>
      </p:sp>
      <p:sp>
        <p:nvSpPr>
          <p:cNvPr id="6" name="Text 1"/>
          <p:cNvSpPr/>
          <p:nvPr/>
        </p:nvSpPr>
        <p:spPr>
          <a:xfrm>
            <a:off x="1015975" y="1541490"/>
            <a:ext cx="203195" cy="380990"/>
          </a:xfrm>
          <a:prstGeom prst="rect">
            <a:avLst/>
          </a:prstGeom>
          <a:noFill/>
          <a:ln/>
        </p:spPr>
        <p:txBody>
          <a:bodyPr wrap="square" lIns="0" tIns="0" rIns="0" bIns="0" rtlCol="0" anchor="t"/>
          <a:lstStyle/>
          <a:p>
            <a:pPr marL="0" indent="0" algn="l">
              <a:lnSpc>
                <a:spcPct val="130000"/>
              </a:lnSpc>
              <a:buNone/>
            </a:pPr>
            <a:r>
              <a:rPr lang="en-US" sz="1600" b="1" dirty="0">
                <a:solidFill>
                  <a:srgbClr val="FF6B35"/>
                </a:solidFill>
                <a:latin typeface="Georgia" pitchFamily="34" charset="0"/>
                <a:ea typeface="Georgia" pitchFamily="34" charset="-122"/>
                <a:cs typeface="Georgia" pitchFamily="34" charset="-120"/>
              </a:rPr>
              <a:t>•
</a:t>
            </a:r>
            <a:endParaRPr lang="en-US" sz="1600" dirty="0"/>
          </a:p>
        </p:txBody>
      </p:sp>
      <p:sp>
        <p:nvSpPr>
          <p:cNvPr id="7" name="Text 2"/>
          <p:cNvSpPr/>
          <p:nvPr/>
        </p:nvSpPr>
        <p:spPr>
          <a:xfrm>
            <a:off x="1269968" y="1537584"/>
            <a:ext cx="9842254" cy="380990"/>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Georgia" pitchFamily="34" charset="0"/>
                <a:ea typeface="Georgia" pitchFamily="34" charset="-122"/>
                <a:cs typeface="Georgia" pitchFamily="34" charset="-120"/>
              </a:rPr>
              <a:t>Seamless Chat Experience
</a:t>
            </a:r>
            <a:endParaRPr lang="en-US" sz="1600" dirty="0"/>
          </a:p>
        </p:txBody>
      </p:sp>
      <p:sp>
        <p:nvSpPr>
          <p:cNvPr id="8" name="Text 3"/>
          <p:cNvSpPr/>
          <p:nvPr/>
        </p:nvSpPr>
        <p:spPr>
          <a:xfrm>
            <a:off x="1317999" y="1838370"/>
            <a:ext cx="9842254" cy="1066773"/>
          </a:xfrm>
          <a:prstGeom prst="rect">
            <a:avLst/>
          </a:prstGeom>
          <a:noFill/>
          <a:ln/>
        </p:spPr>
        <p:txBody>
          <a:bodyPr wrap="square" lIns="0" tIns="0" rIns="0" bIns="0" rtlCol="0" anchor="t"/>
          <a:lstStyle/>
          <a:p>
            <a:pPr marL="0" indent="0" algn="l">
              <a:lnSpc>
                <a:spcPct val="150000"/>
              </a:lnSpc>
              <a:buNone/>
            </a:pPr>
            <a:r>
              <a:rPr lang="en-US" sz="1400" dirty="0">
                <a:latin typeface="Georgia" pitchFamily="34" charset="0"/>
                <a:ea typeface="Georgia" pitchFamily="34" charset="-122"/>
                <a:cs typeface="Georgia" pitchFamily="34" charset="-120"/>
              </a:rPr>
              <a:t>Fired Chat delivers a seamless real-time messaging experience, with messages transmitted/broadcasted instantly across users, ensuring low latency and stable communication.
</a:t>
            </a:r>
            <a:endParaRPr lang="en-US" sz="1400" dirty="0"/>
          </a:p>
        </p:txBody>
      </p:sp>
      <p:sp>
        <p:nvSpPr>
          <p:cNvPr id="9" name="Text 4"/>
          <p:cNvSpPr/>
          <p:nvPr/>
        </p:nvSpPr>
        <p:spPr>
          <a:xfrm>
            <a:off x="1062981" y="2623940"/>
            <a:ext cx="203195" cy="380990"/>
          </a:xfrm>
          <a:prstGeom prst="rect">
            <a:avLst/>
          </a:prstGeom>
          <a:noFill/>
          <a:ln/>
        </p:spPr>
        <p:txBody>
          <a:bodyPr wrap="square" lIns="0" tIns="0" rIns="0" bIns="0" rtlCol="0" anchor="t"/>
          <a:lstStyle/>
          <a:p>
            <a:pPr marL="0" indent="0" algn="l">
              <a:lnSpc>
                <a:spcPct val="130000"/>
              </a:lnSpc>
              <a:buNone/>
            </a:pPr>
            <a:r>
              <a:rPr lang="en-US" sz="1600" b="1" dirty="0">
                <a:solidFill>
                  <a:srgbClr val="FF6B35"/>
                </a:solidFill>
                <a:latin typeface="Georgia" pitchFamily="34" charset="0"/>
                <a:ea typeface="Georgia" pitchFamily="34" charset="-122"/>
                <a:cs typeface="Georgia" pitchFamily="34" charset="-120"/>
              </a:rPr>
              <a:t>•
</a:t>
            </a:r>
            <a:endParaRPr lang="en-US" sz="1600" dirty="0"/>
          </a:p>
        </p:txBody>
      </p:sp>
      <p:sp>
        <p:nvSpPr>
          <p:cNvPr id="10" name="Text 5"/>
          <p:cNvSpPr/>
          <p:nvPr/>
        </p:nvSpPr>
        <p:spPr>
          <a:xfrm>
            <a:off x="1333467" y="2623940"/>
            <a:ext cx="9842254" cy="380990"/>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Georgia" pitchFamily="34" charset="0"/>
                <a:ea typeface="Georgia" pitchFamily="34" charset="-122"/>
                <a:cs typeface="Georgia" pitchFamily="34" charset="-120"/>
              </a:rPr>
              <a:t>Local Data Retention
</a:t>
            </a:r>
            <a:endParaRPr lang="en-US" sz="1600" dirty="0"/>
          </a:p>
        </p:txBody>
      </p:sp>
      <p:sp>
        <p:nvSpPr>
          <p:cNvPr id="11" name="Text 6"/>
          <p:cNvSpPr/>
          <p:nvPr/>
        </p:nvSpPr>
        <p:spPr>
          <a:xfrm>
            <a:off x="1333467" y="2935274"/>
            <a:ext cx="9842254" cy="1066773"/>
          </a:xfrm>
          <a:prstGeom prst="rect">
            <a:avLst/>
          </a:prstGeom>
          <a:noFill/>
          <a:ln/>
        </p:spPr>
        <p:txBody>
          <a:bodyPr wrap="square" lIns="0" tIns="0" rIns="0" bIns="0" rtlCol="0" anchor="t"/>
          <a:lstStyle/>
          <a:p>
            <a:pPr marL="0" indent="0" algn="l">
              <a:lnSpc>
                <a:spcPct val="150000"/>
              </a:lnSpc>
              <a:buNone/>
            </a:pPr>
            <a:r>
              <a:rPr lang="en-US" sz="1400" dirty="0">
                <a:latin typeface="Georgia" pitchFamily="34" charset="0"/>
                <a:ea typeface="Georgia" pitchFamily="34" charset="-122"/>
                <a:cs typeface="Georgia" pitchFamily="34" charset="-120"/>
              </a:rPr>
              <a:t>User data is securely stored locally within the browser, enhancing privacy and eliminating risks associated with server-side data storage, thus ensuring complete user control over their information.
</a:t>
            </a:r>
            <a:endParaRPr lang="en-US" sz="1400" dirty="0"/>
          </a:p>
        </p:txBody>
      </p:sp>
      <p:sp>
        <p:nvSpPr>
          <p:cNvPr id="12" name="Text 7"/>
          <p:cNvSpPr/>
          <p:nvPr/>
        </p:nvSpPr>
        <p:spPr>
          <a:xfrm>
            <a:off x="1062980" y="3662576"/>
            <a:ext cx="203195" cy="380990"/>
          </a:xfrm>
          <a:prstGeom prst="rect">
            <a:avLst/>
          </a:prstGeom>
          <a:noFill/>
          <a:ln/>
        </p:spPr>
        <p:txBody>
          <a:bodyPr wrap="square" lIns="0" tIns="0" rIns="0" bIns="0" rtlCol="0" anchor="t"/>
          <a:lstStyle/>
          <a:p>
            <a:pPr marL="0" indent="0" algn="l">
              <a:lnSpc>
                <a:spcPct val="130000"/>
              </a:lnSpc>
              <a:buNone/>
            </a:pPr>
            <a:r>
              <a:rPr lang="en-US" sz="1600" b="1" dirty="0">
                <a:solidFill>
                  <a:srgbClr val="FF6B35"/>
                </a:solidFill>
                <a:latin typeface="Georgia" pitchFamily="34" charset="0"/>
                <a:ea typeface="Georgia" pitchFamily="34" charset="-122"/>
                <a:cs typeface="Georgia" pitchFamily="34" charset="-120"/>
              </a:rPr>
              <a:t>•
</a:t>
            </a:r>
            <a:endParaRPr lang="en-US" sz="1600" dirty="0"/>
          </a:p>
        </p:txBody>
      </p:sp>
      <p:sp>
        <p:nvSpPr>
          <p:cNvPr id="13" name="Text 8"/>
          <p:cNvSpPr/>
          <p:nvPr/>
        </p:nvSpPr>
        <p:spPr>
          <a:xfrm>
            <a:off x="1333467" y="3688378"/>
            <a:ext cx="9842254" cy="380990"/>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Georgia" pitchFamily="34" charset="0"/>
                <a:ea typeface="Georgia" pitchFamily="34" charset="-122"/>
                <a:cs typeface="Georgia" pitchFamily="34" charset="-120"/>
              </a:rPr>
              <a:t>Stable Video Calling
</a:t>
            </a:r>
            <a:endParaRPr lang="en-US" sz="1600" dirty="0"/>
          </a:p>
        </p:txBody>
      </p:sp>
      <p:sp>
        <p:nvSpPr>
          <p:cNvPr id="14" name="Text 9"/>
          <p:cNvSpPr/>
          <p:nvPr/>
        </p:nvSpPr>
        <p:spPr>
          <a:xfrm>
            <a:off x="1317999" y="3992353"/>
            <a:ext cx="9842254" cy="1066773"/>
          </a:xfrm>
          <a:prstGeom prst="rect">
            <a:avLst/>
          </a:prstGeom>
          <a:noFill/>
          <a:ln/>
        </p:spPr>
        <p:txBody>
          <a:bodyPr wrap="square" lIns="0" tIns="0" rIns="0" bIns="0" rtlCol="0" anchor="t"/>
          <a:lstStyle/>
          <a:p>
            <a:pPr marL="0" indent="0" algn="l">
              <a:lnSpc>
                <a:spcPct val="150000"/>
              </a:lnSpc>
              <a:buNone/>
            </a:pPr>
            <a:r>
              <a:rPr lang="en-US" sz="1400" dirty="0">
                <a:latin typeface="Georgia" pitchFamily="34" charset="0"/>
                <a:ea typeface="Georgia" pitchFamily="34" charset="-122"/>
                <a:cs typeface="Georgia" pitchFamily="34" charset="-120"/>
              </a:rPr>
              <a:t>The integration of WebRTC provides stable peer-to-peer video calling, ensuring quick session establishment and consistent audio-visual quality, even with moderate bandwidth fluctuations.
</a:t>
            </a:r>
            <a:endParaRPr lang="en-US" sz="1400" dirty="0"/>
          </a:p>
        </p:txBody>
      </p:sp>
      <p:sp>
        <p:nvSpPr>
          <p:cNvPr id="15" name="Text 10"/>
          <p:cNvSpPr/>
          <p:nvPr/>
        </p:nvSpPr>
        <p:spPr>
          <a:xfrm>
            <a:off x="1088892" y="4701212"/>
            <a:ext cx="203195" cy="380990"/>
          </a:xfrm>
          <a:prstGeom prst="rect">
            <a:avLst/>
          </a:prstGeom>
          <a:noFill/>
          <a:ln/>
        </p:spPr>
        <p:txBody>
          <a:bodyPr wrap="square" lIns="0" tIns="0" rIns="0" bIns="0" rtlCol="0" anchor="t"/>
          <a:lstStyle/>
          <a:p>
            <a:pPr marL="0" indent="0" algn="l">
              <a:lnSpc>
                <a:spcPct val="130000"/>
              </a:lnSpc>
              <a:buNone/>
            </a:pPr>
            <a:r>
              <a:rPr lang="en-US" sz="1600" b="1" dirty="0">
                <a:solidFill>
                  <a:srgbClr val="FF6B35"/>
                </a:solidFill>
                <a:latin typeface="Georgia" pitchFamily="34" charset="0"/>
                <a:ea typeface="Georgia" pitchFamily="34" charset="-122"/>
                <a:cs typeface="Georgia" pitchFamily="34" charset="-120"/>
              </a:rPr>
              <a:t>•
</a:t>
            </a:r>
            <a:endParaRPr lang="en-US" sz="1600" dirty="0"/>
          </a:p>
        </p:txBody>
      </p:sp>
      <p:sp>
        <p:nvSpPr>
          <p:cNvPr id="16" name="Text 11"/>
          <p:cNvSpPr/>
          <p:nvPr/>
        </p:nvSpPr>
        <p:spPr>
          <a:xfrm>
            <a:off x="1333467" y="4708267"/>
            <a:ext cx="9842254" cy="380990"/>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Georgia" pitchFamily="34" charset="0"/>
                <a:ea typeface="Georgia" pitchFamily="34" charset="-122"/>
                <a:cs typeface="Georgia" pitchFamily="34" charset="-120"/>
              </a:rPr>
              <a:t>AI Chatbot Interaction
</a:t>
            </a:r>
            <a:endParaRPr lang="en-US" sz="1600" dirty="0"/>
          </a:p>
        </p:txBody>
      </p:sp>
      <p:sp>
        <p:nvSpPr>
          <p:cNvPr id="17" name="Text 12"/>
          <p:cNvSpPr/>
          <p:nvPr/>
        </p:nvSpPr>
        <p:spPr>
          <a:xfrm>
            <a:off x="1343911" y="5007629"/>
            <a:ext cx="9842254" cy="1066773"/>
          </a:xfrm>
          <a:prstGeom prst="rect">
            <a:avLst/>
          </a:prstGeom>
          <a:noFill/>
          <a:ln/>
        </p:spPr>
        <p:txBody>
          <a:bodyPr wrap="square" lIns="0" tIns="0" rIns="0" bIns="0" rtlCol="0" anchor="t"/>
          <a:lstStyle/>
          <a:p>
            <a:pPr marL="0" indent="0" algn="l">
              <a:lnSpc>
                <a:spcPct val="150000"/>
              </a:lnSpc>
              <a:buNone/>
            </a:pPr>
            <a:r>
              <a:rPr lang="en-US" sz="1400" dirty="0">
                <a:latin typeface="Georgia" pitchFamily="34" charset="0"/>
                <a:ea typeface="Georgia" pitchFamily="34" charset="-122"/>
                <a:cs typeface="Georgia" pitchFamily="34" charset="-120"/>
              </a:rPr>
              <a:t>An AI-powered chatbot enriches user engagement within chat rooms, allowing for meaningful interactions and instant responses, enhancing the overall user experience and support.
</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89704-361F-ACA1-32E1-C5CAED1698A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701822A-9A92-BE06-F1B6-9B30862CE909}"/>
              </a:ext>
            </a:extLst>
          </p:cNvPr>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a:extLst>
              <a:ext uri="{FF2B5EF4-FFF2-40B4-BE49-F238E27FC236}">
                <a16:creationId xmlns:a16="http://schemas.microsoft.com/office/drawing/2014/main" id="{27400370-6C25-8DF5-DEE0-40D4A4ADD296}"/>
              </a:ext>
            </a:extLst>
          </p:cNvPr>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a:extLst>
              <a:ext uri="{FF2B5EF4-FFF2-40B4-BE49-F238E27FC236}">
                <a16:creationId xmlns:a16="http://schemas.microsoft.com/office/drawing/2014/main" id="{0322561B-A6BC-94DE-D2D6-8CDFE38ED25A}"/>
              </a:ext>
            </a:extLst>
          </p:cNvPr>
          <p:cNvPicPr>
            <a:picLocks noChangeAspect="1"/>
          </p:cNvPicPr>
          <p:nvPr/>
        </p:nvPicPr>
        <p:blipFill>
          <a:blip r:embed="rId5"/>
          <a:srcRect/>
          <a:stretch/>
        </p:blipFill>
        <p:spPr>
          <a:xfrm>
            <a:off x="8381790" y="0"/>
            <a:ext cx="3764185" cy="2031949"/>
          </a:xfrm>
          <a:prstGeom prst="rect">
            <a:avLst/>
          </a:prstGeom>
        </p:spPr>
      </p:pic>
      <p:sp>
        <p:nvSpPr>
          <p:cNvPr id="6" name="Text 1">
            <a:extLst>
              <a:ext uri="{FF2B5EF4-FFF2-40B4-BE49-F238E27FC236}">
                <a16:creationId xmlns:a16="http://schemas.microsoft.com/office/drawing/2014/main" id="{F13D3C41-F344-2BD3-6804-DA0107B6192D}"/>
              </a:ext>
            </a:extLst>
          </p:cNvPr>
          <p:cNvSpPr/>
          <p:nvPr/>
        </p:nvSpPr>
        <p:spPr>
          <a:xfrm>
            <a:off x="1015975" y="1579100"/>
            <a:ext cx="10159746" cy="4358357"/>
          </a:xfrm>
          <a:prstGeom prst="rect">
            <a:avLst/>
          </a:prstGeom>
          <a:noFill/>
          <a:ln/>
        </p:spPr>
        <p:txBody>
          <a:bodyPr wrap="square" lIns="0" tIns="0" rIns="0" bIns="0" rtlCol="0" anchor="t"/>
          <a:lstStyle/>
          <a:p>
            <a:pPr marL="0" indent="0" algn="l">
              <a:lnSpc>
                <a:spcPct val="120000"/>
              </a:lnSpc>
              <a:buNone/>
            </a:pPr>
            <a:r>
              <a:rPr lang="en-US" sz="1600" b="1" dirty="0">
                <a:latin typeface="Calibri" pitchFamily="34" charset="0"/>
                <a:ea typeface="Calibri" pitchFamily="34" charset="-122"/>
                <a:cs typeface="Calibri" pitchFamily="34" charset="-120"/>
              </a:rPr>
              <a:t>
</a:t>
            </a:r>
            <a:endParaRPr lang="en-US" sz="1600" dirty="0"/>
          </a:p>
        </p:txBody>
      </p:sp>
      <p:sp>
        <p:nvSpPr>
          <p:cNvPr id="7" name="Text 2">
            <a:extLst>
              <a:ext uri="{FF2B5EF4-FFF2-40B4-BE49-F238E27FC236}">
                <a16:creationId xmlns:a16="http://schemas.microsoft.com/office/drawing/2014/main" id="{AB0375D1-CA5D-F03F-A878-21731BD35483}"/>
              </a:ext>
            </a:extLst>
          </p:cNvPr>
          <p:cNvSpPr/>
          <p:nvPr/>
        </p:nvSpPr>
        <p:spPr>
          <a:xfrm>
            <a:off x="1015975" y="1339058"/>
            <a:ext cx="10927372" cy="4358358"/>
          </a:xfrm>
          <a:prstGeom prst="rect">
            <a:avLst/>
          </a:prstGeom>
          <a:noFill/>
          <a:ln/>
        </p:spPr>
        <p:txBody>
          <a:bodyPr wrap="square" lIns="0" tIns="0" rIns="0" bIns="0" rtlCol="0" anchor="t"/>
          <a:lstStyle/>
          <a:p>
            <a:pPr marL="0" indent="0" algn="l">
              <a:lnSpc>
                <a:spcPct val="150000"/>
              </a:lnSpc>
              <a:buNone/>
            </a:pPr>
            <a:endParaRPr lang="en-US" sz="1400" dirty="0"/>
          </a:p>
        </p:txBody>
      </p:sp>
      <p:sp>
        <p:nvSpPr>
          <p:cNvPr id="9" name="Text 4">
            <a:extLst>
              <a:ext uri="{FF2B5EF4-FFF2-40B4-BE49-F238E27FC236}">
                <a16:creationId xmlns:a16="http://schemas.microsoft.com/office/drawing/2014/main" id="{33901193-F825-1459-3593-06A4600C6C1D}"/>
              </a:ext>
            </a:extLst>
          </p:cNvPr>
          <p:cNvSpPr/>
          <p:nvPr/>
        </p:nvSpPr>
        <p:spPr>
          <a:xfrm>
            <a:off x="1086314" y="2694668"/>
            <a:ext cx="10397983" cy="800080"/>
          </a:xfrm>
          <a:prstGeom prst="rect">
            <a:avLst/>
          </a:prstGeom>
          <a:noFill/>
          <a:ln/>
        </p:spPr>
        <p:txBody>
          <a:bodyPr wrap="square" lIns="0" tIns="0" rIns="0" bIns="0" rtlCol="0" anchor="t"/>
          <a:lstStyle/>
          <a:p>
            <a:pPr marL="0" indent="0" algn="l">
              <a:lnSpc>
                <a:spcPct val="150000"/>
              </a:lnSpc>
              <a:buNone/>
            </a:pPr>
            <a:endParaRPr lang="en-US" sz="1400" dirty="0"/>
          </a:p>
        </p:txBody>
      </p:sp>
      <p:sp>
        <p:nvSpPr>
          <p:cNvPr id="10" name="Text 0">
            <a:extLst>
              <a:ext uri="{FF2B5EF4-FFF2-40B4-BE49-F238E27FC236}">
                <a16:creationId xmlns:a16="http://schemas.microsoft.com/office/drawing/2014/main" id="{08FCFB8A-8CD2-67D9-4AAC-0F54CA8D0B28}"/>
              </a:ext>
            </a:extLst>
          </p:cNvPr>
          <p:cNvSpPr/>
          <p:nvPr/>
        </p:nvSpPr>
        <p:spPr>
          <a:xfrm>
            <a:off x="1015975" y="634984"/>
            <a:ext cx="10159746" cy="888978"/>
          </a:xfrm>
          <a:prstGeom prst="rect">
            <a:avLst/>
          </a:prstGeom>
          <a:noFill/>
          <a:ln/>
        </p:spPr>
        <p:txBody>
          <a:bodyPr wrap="square" lIns="0" tIns="0" rIns="0" bIns="0" rtlCol="0" anchor="t"/>
          <a:lstStyle/>
          <a:p>
            <a:pPr marL="0" indent="0" algn="l">
              <a:lnSpc>
                <a:spcPct val="120000"/>
              </a:lnSpc>
              <a:buNone/>
            </a:pPr>
            <a:r>
              <a:rPr lang="en-US" sz="3000" b="1" dirty="0">
                <a:latin typeface="Calibri" pitchFamily="34" charset="0"/>
                <a:ea typeface="Calibri" pitchFamily="34" charset="-122"/>
                <a:cs typeface="Calibri" pitchFamily="34" charset="-120"/>
              </a:rPr>
              <a:t>Conclusion</a:t>
            </a:r>
            <a:endParaRPr lang="en-US" sz="3000" dirty="0"/>
          </a:p>
        </p:txBody>
      </p:sp>
      <p:sp>
        <p:nvSpPr>
          <p:cNvPr id="11" name="Text 1">
            <a:extLst>
              <a:ext uri="{FF2B5EF4-FFF2-40B4-BE49-F238E27FC236}">
                <a16:creationId xmlns:a16="http://schemas.microsoft.com/office/drawing/2014/main" id="{E8831765-0DC8-B945-B7FF-3A2407C308FF}"/>
              </a:ext>
            </a:extLst>
          </p:cNvPr>
          <p:cNvSpPr/>
          <p:nvPr/>
        </p:nvSpPr>
        <p:spPr>
          <a:xfrm>
            <a:off x="1015975" y="1541490"/>
            <a:ext cx="203195" cy="380990"/>
          </a:xfrm>
          <a:prstGeom prst="rect">
            <a:avLst/>
          </a:prstGeom>
          <a:noFill/>
          <a:ln/>
        </p:spPr>
        <p:txBody>
          <a:bodyPr wrap="square" lIns="0" tIns="0" rIns="0" bIns="0" rtlCol="0" anchor="t"/>
          <a:lstStyle/>
          <a:p>
            <a:pPr marL="0" indent="0" algn="l">
              <a:lnSpc>
                <a:spcPct val="130000"/>
              </a:lnSpc>
              <a:buNone/>
            </a:pPr>
            <a:r>
              <a:rPr lang="en-US" sz="1600" b="1" dirty="0">
                <a:solidFill>
                  <a:srgbClr val="FF6B35"/>
                </a:solidFill>
                <a:latin typeface="Georgia" pitchFamily="34" charset="0"/>
              </a:rPr>
              <a:t>✓</a:t>
            </a:r>
          </a:p>
        </p:txBody>
      </p:sp>
      <p:sp>
        <p:nvSpPr>
          <p:cNvPr id="12" name="Text 2">
            <a:extLst>
              <a:ext uri="{FF2B5EF4-FFF2-40B4-BE49-F238E27FC236}">
                <a16:creationId xmlns:a16="http://schemas.microsoft.com/office/drawing/2014/main" id="{57839263-BAA6-FD10-78CC-2DBB78147E16}"/>
              </a:ext>
            </a:extLst>
          </p:cNvPr>
          <p:cNvSpPr/>
          <p:nvPr/>
        </p:nvSpPr>
        <p:spPr>
          <a:xfrm>
            <a:off x="1269968" y="1537584"/>
            <a:ext cx="9842254" cy="380990"/>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Georgia" pitchFamily="34" charset="0"/>
              </a:rPr>
              <a:t>Privacy-First Communication Platform</a:t>
            </a:r>
          </a:p>
        </p:txBody>
      </p:sp>
      <p:sp>
        <p:nvSpPr>
          <p:cNvPr id="13" name="Text 3">
            <a:extLst>
              <a:ext uri="{FF2B5EF4-FFF2-40B4-BE49-F238E27FC236}">
                <a16:creationId xmlns:a16="http://schemas.microsoft.com/office/drawing/2014/main" id="{9DBFD09A-D709-9187-EDD2-A8BB47181097}"/>
              </a:ext>
            </a:extLst>
          </p:cNvPr>
          <p:cNvSpPr/>
          <p:nvPr/>
        </p:nvSpPr>
        <p:spPr>
          <a:xfrm>
            <a:off x="1317999" y="1838370"/>
            <a:ext cx="9842254" cy="700000"/>
          </a:xfrm>
          <a:prstGeom prst="rect">
            <a:avLst/>
          </a:prstGeom>
          <a:noFill/>
          <a:ln/>
        </p:spPr>
        <p:txBody>
          <a:bodyPr wrap="square" lIns="0" tIns="0" rIns="0" bIns="0" rtlCol="0" anchor="t"/>
          <a:lstStyle/>
          <a:p>
            <a:pPr marL="0" indent="0" algn="l">
              <a:lnSpc>
                <a:spcPct val="150000"/>
              </a:lnSpc>
              <a:buNone/>
            </a:pPr>
            <a:r>
              <a:rPr lang="en-US" sz="1300" dirty="0">
                <a:latin typeface="Georgia" pitchFamily="34" charset="0"/>
              </a:rPr>
              <a:t>Fired Chat successfully demonstrates that real-time communication can be achieved without centralized data storage, eliminating privacy risks and giving users complete control over their messages.</a:t>
            </a:r>
          </a:p>
        </p:txBody>
      </p:sp>
      <p:sp>
        <p:nvSpPr>
          <p:cNvPr id="15" name="Text 4">
            <a:extLst>
              <a:ext uri="{FF2B5EF4-FFF2-40B4-BE49-F238E27FC236}">
                <a16:creationId xmlns:a16="http://schemas.microsoft.com/office/drawing/2014/main" id="{A5BA245E-E68A-AD87-68F9-F66740302B8C}"/>
              </a:ext>
            </a:extLst>
          </p:cNvPr>
          <p:cNvSpPr/>
          <p:nvPr/>
        </p:nvSpPr>
        <p:spPr>
          <a:xfrm>
            <a:off x="1015975" y="2620000"/>
            <a:ext cx="203195" cy="380990"/>
          </a:xfrm>
          <a:prstGeom prst="rect">
            <a:avLst/>
          </a:prstGeom>
          <a:noFill/>
          <a:ln/>
        </p:spPr>
        <p:txBody>
          <a:bodyPr wrap="square" lIns="0" tIns="0" rIns="0" bIns="0" rtlCol="0" anchor="t"/>
          <a:lstStyle/>
          <a:p>
            <a:pPr marL="0" indent="0" algn="l">
              <a:lnSpc>
                <a:spcPct val="130000"/>
              </a:lnSpc>
              <a:buNone/>
            </a:pPr>
            <a:r>
              <a:rPr lang="en-US" sz="1600" b="1" dirty="0">
                <a:solidFill>
                  <a:srgbClr val="FF6B35"/>
                </a:solidFill>
                <a:latin typeface="Georgia" pitchFamily="34" charset="0"/>
              </a:rPr>
              <a:t>✓</a:t>
            </a:r>
          </a:p>
        </p:txBody>
      </p:sp>
      <p:sp>
        <p:nvSpPr>
          <p:cNvPr id="16" name="Text 5">
            <a:extLst>
              <a:ext uri="{FF2B5EF4-FFF2-40B4-BE49-F238E27FC236}">
                <a16:creationId xmlns:a16="http://schemas.microsoft.com/office/drawing/2014/main" id="{9534285E-12D6-CD32-5752-69F377CA2E6D}"/>
              </a:ext>
            </a:extLst>
          </p:cNvPr>
          <p:cNvSpPr/>
          <p:nvPr/>
        </p:nvSpPr>
        <p:spPr>
          <a:xfrm>
            <a:off x="1269968" y="2616094"/>
            <a:ext cx="9842254" cy="380990"/>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Georgia" pitchFamily="34" charset="0"/>
              </a:rPr>
              <a:t>Proven Performance Advantage</a:t>
            </a:r>
          </a:p>
        </p:txBody>
      </p:sp>
      <p:sp>
        <p:nvSpPr>
          <p:cNvPr id="17" name="Text 6">
            <a:extLst>
              <a:ext uri="{FF2B5EF4-FFF2-40B4-BE49-F238E27FC236}">
                <a16:creationId xmlns:a16="http://schemas.microsoft.com/office/drawing/2014/main" id="{8DD4A694-EF6C-821C-2D03-FD103AC9C818}"/>
              </a:ext>
            </a:extLst>
          </p:cNvPr>
          <p:cNvSpPr/>
          <p:nvPr/>
        </p:nvSpPr>
        <p:spPr>
          <a:xfrm>
            <a:off x="1317999" y="2916880"/>
            <a:ext cx="9842254" cy="700000"/>
          </a:xfrm>
          <a:prstGeom prst="rect">
            <a:avLst/>
          </a:prstGeom>
          <a:noFill/>
          <a:ln/>
        </p:spPr>
        <p:txBody>
          <a:bodyPr wrap="square" lIns="0" tIns="0" rIns="0" bIns="0" rtlCol="0" anchor="t"/>
          <a:lstStyle/>
          <a:p>
            <a:pPr marL="0" indent="0" algn="l">
              <a:lnSpc>
                <a:spcPct val="150000"/>
              </a:lnSpc>
              <a:buNone/>
            </a:pPr>
            <a:r>
              <a:rPr lang="en-US" sz="1300" dirty="0">
                <a:latin typeface="Georgia" pitchFamily="34" charset="0"/>
              </a:rPr>
              <a:t>By leveraging WebRTC and Socket.IO with a local-first architecture, Fired Chat achieves faster startup, faster message delivery, and lower bandwidth usage compared to conventional platforms.</a:t>
            </a:r>
          </a:p>
        </p:txBody>
      </p:sp>
      <p:sp>
        <p:nvSpPr>
          <p:cNvPr id="18" name="Text 7">
            <a:extLst>
              <a:ext uri="{FF2B5EF4-FFF2-40B4-BE49-F238E27FC236}">
                <a16:creationId xmlns:a16="http://schemas.microsoft.com/office/drawing/2014/main" id="{58B880C7-AAFB-2797-D103-8B93088B7CAB}"/>
              </a:ext>
            </a:extLst>
          </p:cNvPr>
          <p:cNvSpPr/>
          <p:nvPr/>
        </p:nvSpPr>
        <p:spPr>
          <a:xfrm>
            <a:off x="1015975" y="3700000"/>
            <a:ext cx="203195" cy="380990"/>
          </a:xfrm>
          <a:prstGeom prst="rect">
            <a:avLst/>
          </a:prstGeom>
          <a:noFill/>
          <a:ln/>
        </p:spPr>
        <p:txBody>
          <a:bodyPr wrap="square" lIns="0" tIns="0" rIns="0" bIns="0" rtlCol="0" anchor="t"/>
          <a:lstStyle/>
          <a:p>
            <a:pPr marL="0" indent="0" algn="l">
              <a:lnSpc>
                <a:spcPct val="130000"/>
              </a:lnSpc>
              <a:buNone/>
            </a:pPr>
            <a:r>
              <a:rPr lang="en-US" sz="1600" b="1" dirty="0">
                <a:solidFill>
                  <a:srgbClr val="FF6B35"/>
                </a:solidFill>
                <a:latin typeface="Georgia" pitchFamily="34" charset="0"/>
              </a:rPr>
              <a:t>✓</a:t>
            </a:r>
          </a:p>
        </p:txBody>
      </p:sp>
      <p:sp>
        <p:nvSpPr>
          <p:cNvPr id="19" name="Text 8">
            <a:extLst>
              <a:ext uri="{FF2B5EF4-FFF2-40B4-BE49-F238E27FC236}">
                <a16:creationId xmlns:a16="http://schemas.microsoft.com/office/drawing/2014/main" id="{52CCFD9E-5DA8-9237-24D0-6DBE84903738}"/>
              </a:ext>
            </a:extLst>
          </p:cNvPr>
          <p:cNvSpPr/>
          <p:nvPr/>
        </p:nvSpPr>
        <p:spPr>
          <a:xfrm>
            <a:off x="1269968" y="3696094"/>
            <a:ext cx="9842254" cy="380990"/>
          </a:xfrm>
          <a:prstGeom prst="rect">
            <a:avLst/>
          </a:prstGeom>
          <a:noFill/>
          <a:ln/>
        </p:spPr>
        <p:txBody>
          <a:bodyPr wrap="square" lIns="0" tIns="0" rIns="0" bIns="0" rtlCol="0" anchor="t"/>
          <a:lstStyle/>
          <a:p>
            <a:pPr marL="0" indent="0" algn="l">
              <a:lnSpc>
                <a:spcPct val="120000"/>
              </a:lnSpc>
              <a:buNone/>
            </a:pPr>
            <a:r>
              <a:rPr lang="en-US" sz="1600" b="1" dirty="0">
                <a:solidFill>
                  <a:srgbClr val="2D3436"/>
                </a:solidFill>
                <a:latin typeface="Georgia" pitchFamily="34" charset="0"/>
              </a:rPr>
              <a:t>AI Integration &amp; Future Scalability</a:t>
            </a:r>
          </a:p>
        </p:txBody>
      </p:sp>
      <p:sp>
        <p:nvSpPr>
          <p:cNvPr id="20" name="Text 9">
            <a:extLst>
              <a:ext uri="{FF2B5EF4-FFF2-40B4-BE49-F238E27FC236}">
                <a16:creationId xmlns:a16="http://schemas.microsoft.com/office/drawing/2014/main" id="{37E18E5B-CA26-73F3-B1B8-0A561EC4BE60}"/>
              </a:ext>
            </a:extLst>
          </p:cNvPr>
          <p:cNvSpPr/>
          <p:nvPr/>
        </p:nvSpPr>
        <p:spPr>
          <a:xfrm>
            <a:off x="1317999" y="3996880"/>
            <a:ext cx="9842254" cy="700000"/>
          </a:xfrm>
          <a:prstGeom prst="rect">
            <a:avLst/>
          </a:prstGeom>
          <a:noFill/>
          <a:ln/>
        </p:spPr>
        <p:txBody>
          <a:bodyPr wrap="square" lIns="0" tIns="0" rIns="0" bIns="0" rtlCol="0" anchor="t"/>
          <a:lstStyle/>
          <a:p>
            <a:pPr marL="0" indent="0" algn="l">
              <a:lnSpc>
                <a:spcPct val="150000"/>
              </a:lnSpc>
              <a:buNone/>
            </a:pPr>
            <a:r>
              <a:rPr lang="en-US" sz="1300" dirty="0">
                <a:latin typeface="Georgia" pitchFamily="34" charset="0"/>
              </a:rPr>
              <a:t>The embedded AI chatbot and term-explainer enrich user engagement, while the MERN stack foundation and planned enhancements - multi-user video, encrypted storage, and a mobile app - position Fired Chat for robust, real-world deployment.</a:t>
            </a:r>
          </a:p>
        </p:txBody>
      </p:sp>
    </p:spTree>
    <p:extLst>
      <p:ext uri="{BB962C8B-B14F-4D97-AF65-F5344CB8AC3E}">
        <p14:creationId xmlns:p14="http://schemas.microsoft.com/office/powerpoint/2010/main" val="2621170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4952876"/>
            <a:ext cx="3809905" cy="1859404"/>
          </a:xfrm>
          <a:prstGeom prst="rect">
            <a:avLst/>
          </a:prstGeom>
        </p:spPr>
      </p:pic>
      <p:pic>
        <p:nvPicPr>
          <p:cNvPr id="3" name="Image 1" descr="preencoded.png"/>
          <p:cNvPicPr>
            <a:picLocks noChangeAspect="1"/>
          </p:cNvPicPr>
          <p:nvPr/>
        </p:nvPicPr>
        <p:blipFill>
          <a:blip r:embed="rId4"/>
          <a:srcRect/>
          <a:stretch/>
        </p:blipFill>
        <p:spPr>
          <a:xfrm>
            <a:off x="634984" y="507987"/>
            <a:ext cx="1269968" cy="1142971"/>
          </a:xfrm>
          <a:prstGeom prst="rect">
            <a:avLst/>
          </a:prstGeom>
        </p:spPr>
      </p:pic>
      <p:pic>
        <p:nvPicPr>
          <p:cNvPr id="4" name="Image 2" descr="preencoded.png"/>
          <p:cNvPicPr>
            <a:picLocks noChangeAspect="1"/>
          </p:cNvPicPr>
          <p:nvPr/>
        </p:nvPicPr>
        <p:blipFill>
          <a:blip r:embed="rId5"/>
          <a:srcRect/>
          <a:stretch/>
        </p:blipFill>
        <p:spPr>
          <a:xfrm>
            <a:off x="8381790" y="0"/>
            <a:ext cx="3764185" cy="2031949"/>
          </a:xfrm>
          <a:prstGeom prst="rect">
            <a:avLst/>
          </a:prstGeom>
        </p:spPr>
      </p:pic>
      <p:sp>
        <p:nvSpPr>
          <p:cNvPr id="5" name="Text 0"/>
          <p:cNvSpPr/>
          <p:nvPr/>
        </p:nvSpPr>
        <p:spPr>
          <a:xfrm>
            <a:off x="1015975" y="634984"/>
            <a:ext cx="10159746" cy="888978"/>
          </a:xfrm>
          <a:prstGeom prst="rect">
            <a:avLst/>
          </a:prstGeom>
          <a:noFill/>
          <a:ln/>
        </p:spPr>
        <p:txBody>
          <a:bodyPr wrap="square" lIns="0" tIns="0" rIns="0" bIns="0" rtlCol="0" anchor="t"/>
          <a:lstStyle/>
          <a:p>
            <a:pPr marL="0" indent="0" algn="l">
              <a:lnSpc>
                <a:spcPct val="120000"/>
              </a:lnSpc>
              <a:buNone/>
            </a:pPr>
            <a:r>
              <a:rPr lang="en-US" sz="3000" b="1" dirty="0">
                <a:latin typeface="Calibri" pitchFamily="34" charset="0"/>
                <a:ea typeface="Calibri" pitchFamily="34" charset="-122"/>
                <a:cs typeface="Calibri" pitchFamily="34" charset="-120"/>
              </a:rPr>
              <a:t>Future Work
</a:t>
            </a:r>
            <a:endParaRPr lang="en-US" sz="3000" dirty="0"/>
          </a:p>
        </p:txBody>
      </p:sp>
      <p:sp>
        <p:nvSpPr>
          <p:cNvPr id="6" name="Shape 1"/>
          <p:cNvSpPr/>
          <p:nvPr/>
        </p:nvSpPr>
        <p:spPr>
          <a:xfrm>
            <a:off x="1015975" y="2146246"/>
            <a:ext cx="3098723" cy="2997254"/>
          </a:xfrm>
          <a:prstGeom prst="rect">
            <a:avLst/>
          </a:prstGeom>
          <a:noFill/>
          <a:ln/>
        </p:spPr>
        <p:txBody>
          <a:bodyPr/>
          <a:lstStyle/>
          <a:p>
            <a:endParaRPr lang="en-IN"/>
          </a:p>
        </p:txBody>
      </p:sp>
      <p:sp>
        <p:nvSpPr>
          <p:cNvPr id="8" name="Text 3"/>
          <p:cNvSpPr/>
          <p:nvPr/>
        </p:nvSpPr>
        <p:spPr>
          <a:xfrm>
            <a:off x="1320767" y="1836613"/>
            <a:ext cx="2489138" cy="1015975"/>
          </a:xfrm>
          <a:prstGeom prst="rect">
            <a:avLst/>
          </a:prstGeom>
          <a:noFill/>
          <a:ln/>
        </p:spPr>
        <p:txBody>
          <a:bodyPr wrap="square" lIns="0" tIns="0" rIns="0" bIns="0" rtlCol="0" anchor="t"/>
          <a:lstStyle/>
          <a:p>
            <a:pPr marL="0" indent="0" algn="l">
              <a:lnSpc>
                <a:spcPct val="125000"/>
              </a:lnSpc>
              <a:buNone/>
            </a:pPr>
            <a:r>
              <a:rPr lang="en-US" sz="1600" b="1" dirty="0">
                <a:solidFill>
                  <a:srgbClr val="2D3436"/>
                </a:solidFill>
                <a:latin typeface="Calibri" pitchFamily="34" charset="0"/>
                <a:ea typeface="Calibri" pitchFamily="34" charset="-122"/>
                <a:cs typeface="Calibri" pitchFamily="34" charset="-120"/>
              </a:rPr>
              <a:t>Multi-User Video Conferencing
</a:t>
            </a:r>
            <a:endParaRPr lang="en-US" sz="1600" dirty="0"/>
          </a:p>
        </p:txBody>
      </p:sp>
      <p:sp>
        <p:nvSpPr>
          <p:cNvPr id="9" name="Text 4"/>
          <p:cNvSpPr/>
          <p:nvPr/>
        </p:nvSpPr>
        <p:spPr>
          <a:xfrm>
            <a:off x="1269968" y="2626055"/>
            <a:ext cx="2489138" cy="1996390"/>
          </a:xfrm>
          <a:prstGeom prst="rect">
            <a:avLst/>
          </a:prstGeom>
          <a:noFill/>
          <a:ln/>
        </p:spPr>
        <p:txBody>
          <a:bodyPr wrap="square" lIns="0" tIns="0" rIns="0" bIns="0" rtlCol="0" anchor="t"/>
          <a:lstStyle/>
          <a:p>
            <a:pPr marL="0" indent="0" algn="l">
              <a:lnSpc>
                <a:spcPct val="140000"/>
              </a:lnSpc>
              <a:buNone/>
            </a:pPr>
            <a:r>
              <a:rPr lang="en-US" sz="1400" dirty="0">
                <a:latin typeface="Calibri" pitchFamily="34" charset="0"/>
                <a:ea typeface="Calibri" pitchFamily="34" charset="-122"/>
                <a:cs typeface="Calibri" pitchFamily="34" charset="-120"/>
              </a:rPr>
              <a:t>Explore options for multi-user video conferencing to enhance group communication, enabling seamless interactions among multiple participants in real-time.
</a:t>
            </a:r>
            <a:endParaRPr lang="en-US" sz="1400" dirty="0"/>
          </a:p>
        </p:txBody>
      </p:sp>
      <p:sp>
        <p:nvSpPr>
          <p:cNvPr id="10" name="Shape 5"/>
          <p:cNvSpPr/>
          <p:nvPr/>
        </p:nvSpPr>
        <p:spPr>
          <a:xfrm>
            <a:off x="4533787" y="2146246"/>
            <a:ext cx="3098723" cy="2997254"/>
          </a:xfrm>
          <a:prstGeom prst="rect">
            <a:avLst/>
          </a:prstGeom>
          <a:noFill/>
          <a:ln/>
        </p:spPr>
        <p:txBody>
          <a:bodyPr/>
          <a:lstStyle/>
          <a:p>
            <a:endParaRPr lang="en-IN"/>
          </a:p>
        </p:txBody>
      </p:sp>
      <p:sp>
        <p:nvSpPr>
          <p:cNvPr id="12" name="Text 7"/>
          <p:cNvSpPr/>
          <p:nvPr/>
        </p:nvSpPr>
        <p:spPr>
          <a:xfrm>
            <a:off x="4686183" y="1836612"/>
            <a:ext cx="2489138" cy="1015975"/>
          </a:xfrm>
          <a:prstGeom prst="rect">
            <a:avLst/>
          </a:prstGeom>
          <a:noFill/>
          <a:ln/>
        </p:spPr>
        <p:txBody>
          <a:bodyPr wrap="square" lIns="0" tIns="0" rIns="0" bIns="0" rtlCol="0" anchor="t"/>
          <a:lstStyle/>
          <a:p>
            <a:pPr marL="0" indent="0" algn="l">
              <a:lnSpc>
                <a:spcPct val="125000"/>
              </a:lnSpc>
              <a:buNone/>
            </a:pPr>
            <a:r>
              <a:rPr lang="en-US" sz="1600" b="1" dirty="0">
                <a:solidFill>
                  <a:srgbClr val="2D3436"/>
                </a:solidFill>
                <a:latin typeface="Calibri" pitchFamily="34" charset="0"/>
                <a:ea typeface="Calibri" pitchFamily="34" charset="-122"/>
                <a:cs typeface="Calibri" pitchFamily="34" charset="-120"/>
              </a:rPr>
              <a:t>Enhanced AI Capabilities
</a:t>
            </a:r>
            <a:endParaRPr lang="en-US" sz="1600" dirty="0"/>
          </a:p>
        </p:txBody>
      </p:sp>
      <p:sp>
        <p:nvSpPr>
          <p:cNvPr id="13" name="Text 8"/>
          <p:cNvSpPr/>
          <p:nvPr/>
        </p:nvSpPr>
        <p:spPr>
          <a:xfrm>
            <a:off x="4749568" y="2634749"/>
            <a:ext cx="2489138" cy="1996390"/>
          </a:xfrm>
          <a:prstGeom prst="rect">
            <a:avLst/>
          </a:prstGeom>
          <a:noFill/>
          <a:ln/>
        </p:spPr>
        <p:txBody>
          <a:bodyPr wrap="square" lIns="0" tIns="0" rIns="0" bIns="0" rtlCol="0" anchor="t"/>
          <a:lstStyle/>
          <a:p>
            <a:pPr marL="0" indent="0" algn="l">
              <a:lnSpc>
                <a:spcPct val="140000"/>
              </a:lnSpc>
              <a:buNone/>
            </a:pPr>
            <a:r>
              <a:rPr lang="en-US" sz="1400" dirty="0">
                <a:latin typeface="Calibri" pitchFamily="34" charset="0"/>
                <a:ea typeface="Calibri" pitchFamily="34" charset="-122"/>
                <a:cs typeface="Calibri" pitchFamily="34" charset="-120"/>
              </a:rPr>
              <a:t>Develop advanced AI features for improved user support, including personalized responses and context-aware assistance to enrich user interactions.
</a:t>
            </a:r>
            <a:endParaRPr lang="en-US" sz="1400" dirty="0"/>
          </a:p>
        </p:txBody>
      </p:sp>
      <p:sp>
        <p:nvSpPr>
          <p:cNvPr id="14" name="Shape 9"/>
          <p:cNvSpPr/>
          <p:nvPr/>
        </p:nvSpPr>
        <p:spPr>
          <a:xfrm>
            <a:off x="8051599" y="2146246"/>
            <a:ext cx="1092401" cy="2997254"/>
          </a:xfrm>
          <a:prstGeom prst="rect">
            <a:avLst/>
          </a:prstGeom>
          <a:noFill/>
          <a:ln/>
        </p:spPr>
        <p:txBody>
          <a:bodyPr/>
          <a:lstStyle/>
          <a:p>
            <a:endParaRPr lang="en-IN"/>
          </a:p>
        </p:txBody>
      </p:sp>
      <p:sp>
        <p:nvSpPr>
          <p:cNvPr id="16" name="Text 11"/>
          <p:cNvSpPr/>
          <p:nvPr/>
        </p:nvSpPr>
        <p:spPr>
          <a:xfrm>
            <a:off x="8330991" y="1835104"/>
            <a:ext cx="2489138" cy="1015975"/>
          </a:xfrm>
          <a:prstGeom prst="rect">
            <a:avLst/>
          </a:prstGeom>
          <a:noFill/>
          <a:ln/>
        </p:spPr>
        <p:txBody>
          <a:bodyPr wrap="square" lIns="0" tIns="0" rIns="0" bIns="0" rtlCol="0" anchor="t"/>
          <a:lstStyle/>
          <a:p>
            <a:pPr marL="0" indent="0" algn="l">
              <a:lnSpc>
                <a:spcPct val="125000"/>
              </a:lnSpc>
              <a:buNone/>
            </a:pPr>
            <a:r>
              <a:rPr lang="en-US" sz="1600" b="1" dirty="0">
                <a:solidFill>
                  <a:srgbClr val="2D3436"/>
                </a:solidFill>
                <a:latin typeface="Calibri" pitchFamily="34" charset="0"/>
                <a:ea typeface="Calibri" pitchFamily="34" charset="-122"/>
                <a:cs typeface="Calibri" pitchFamily="34" charset="-120"/>
              </a:rPr>
              <a:t>Encrypted Local Storage
</a:t>
            </a:r>
            <a:endParaRPr lang="en-US" sz="1600" dirty="0"/>
          </a:p>
        </p:txBody>
      </p:sp>
      <p:sp>
        <p:nvSpPr>
          <p:cNvPr id="17" name="Text 12"/>
          <p:cNvSpPr/>
          <p:nvPr/>
        </p:nvSpPr>
        <p:spPr>
          <a:xfrm>
            <a:off x="8394376" y="2626055"/>
            <a:ext cx="2489138" cy="1996390"/>
          </a:xfrm>
          <a:prstGeom prst="rect">
            <a:avLst/>
          </a:prstGeom>
          <a:noFill/>
          <a:ln/>
        </p:spPr>
        <p:txBody>
          <a:bodyPr wrap="square" lIns="0" tIns="0" rIns="0" bIns="0" rtlCol="0" anchor="t"/>
          <a:lstStyle/>
          <a:p>
            <a:pPr marL="0" indent="0" algn="l">
              <a:lnSpc>
                <a:spcPct val="140000"/>
              </a:lnSpc>
              <a:buNone/>
            </a:pPr>
            <a:r>
              <a:rPr lang="en-US" sz="1400" dirty="0">
                <a:latin typeface="Calibri" pitchFamily="34" charset="0"/>
                <a:ea typeface="Calibri" pitchFamily="34" charset="-122"/>
                <a:cs typeface="Calibri" pitchFamily="34" charset="-120"/>
              </a:rPr>
              <a:t>Implement encrypted local storage solutions to further safeguard user data, ensuring that sensitive information remains protected even on user devices.
</a:t>
            </a:r>
            <a:endParaRPr lang="en-US" sz="1400" dirty="0"/>
          </a:p>
        </p:txBody>
      </p:sp>
      <p:sp>
        <p:nvSpPr>
          <p:cNvPr id="18" name="Text 7">
            <a:extLst>
              <a:ext uri="{FF2B5EF4-FFF2-40B4-BE49-F238E27FC236}">
                <a16:creationId xmlns:a16="http://schemas.microsoft.com/office/drawing/2014/main" id="{298C5DED-D95F-673D-4E77-93CF7FDB3ABC}"/>
              </a:ext>
            </a:extLst>
          </p:cNvPr>
          <p:cNvSpPr/>
          <p:nvPr/>
        </p:nvSpPr>
        <p:spPr>
          <a:xfrm>
            <a:off x="4686183" y="4767589"/>
            <a:ext cx="2489138" cy="1996390"/>
          </a:xfrm>
          <a:prstGeom prst="rect">
            <a:avLst/>
          </a:prstGeom>
          <a:noFill/>
          <a:ln/>
        </p:spPr>
        <p:txBody>
          <a:bodyPr wrap="square" lIns="0" tIns="0" rIns="0" bIns="0" rtlCol="0" anchor="t"/>
          <a:lstStyle/>
          <a:p>
            <a:pPr marL="0" indent="0" algn="l">
              <a:lnSpc>
                <a:spcPct val="125000"/>
              </a:lnSpc>
              <a:buNone/>
            </a:pPr>
            <a:r>
              <a:rPr lang="en-US" sz="1600" b="1" dirty="0">
                <a:solidFill>
                  <a:srgbClr val="2D3436"/>
                </a:solidFill>
                <a:latin typeface="Calibri" pitchFamily="34" charset="0"/>
                <a:ea typeface="Calibri" pitchFamily="34" charset="-122"/>
                <a:cs typeface="Calibri" pitchFamily="34" charset="-120"/>
              </a:rPr>
              <a:t>Mobile Application</a:t>
            </a:r>
          </a:p>
          <a:p>
            <a:pPr marL="0" indent="0" algn="l">
              <a:lnSpc>
                <a:spcPct val="125000"/>
              </a:lnSpc>
              <a:buNone/>
            </a:pPr>
            <a:endParaRPr lang="en-US" sz="1600" b="1" dirty="0">
              <a:solidFill>
                <a:srgbClr val="2D3436"/>
              </a:solidFill>
              <a:latin typeface="Calibri" pitchFamily="34" charset="0"/>
              <a:ea typeface="Calibri" pitchFamily="34" charset="-122"/>
              <a:cs typeface="Calibri" pitchFamily="34" charset="-120"/>
            </a:endParaRPr>
          </a:p>
          <a:p>
            <a:pPr marL="0" indent="0" algn="l">
              <a:lnSpc>
                <a:spcPct val="125000"/>
              </a:lnSpc>
              <a:buNone/>
            </a:pPr>
            <a:r>
              <a:rPr lang="en-US" sz="1400" dirty="0">
                <a:solidFill>
                  <a:srgbClr val="2D3436"/>
                </a:solidFill>
                <a:latin typeface="Calibri" pitchFamily="34" charset="0"/>
                <a:ea typeface="Calibri" pitchFamily="34" charset="-122"/>
                <a:cs typeface="Calibri" pitchFamily="34" charset="-120"/>
              </a:rPr>
              <a:t>Built Mobile Application For Android and iOS devices to ensure quick access and for simplicity</a:t>
            </a:r>
          </a:p>
          <a:p>
            <a:pPr marL="0" indent="0" algn="l">
              <a:lnSpc>
                <a:spcPct val="125000"/>
              </a:lnSpc>
              <a:buNone/>
            </a:pPr>
            <a:endParaRPr lang="en-US" sz="1600" b="1" dirty="0">
              <a:solidFill>
                <a:srgbClr val="2D3436"/>
              </a:solidFill>
              <a:latin typeface="Calibri" pitchFamily="34" charset="0"/>
              <a:ea typeface="Calibri" pitchFamily="34" charset="-122"/>
              <a:cs typeface="Calibri" pitchFamily="34" charset="-120"/>
            </a:endParaRPr>
          </a:p>
          <a:p>
            <a:pPr marL="0" indent="0" algn="l">
              <a:lnSpc>
                <a:spcPct val="125000"/>
              </a:lnSpc>
              <a:buNone/>
            </a:pPr>
            <a:r>
              <a:rPr lang="en-US" sz="1600" b="1" dirty="0">
                <a:solidFill>
                  <a:srgbClr val="2D3436"/>
                </a:solidFill>
                <a:latin typeface="Calibri" pitchFamily="34" charset="0"/>
                <a:ea typeface="Calibri" pitchFamily="34" charset="-122"/>
                <a:cs typeface="Calibri" pitchFamily="34" charset="-120"/>
              </a:rPr>
              <a:t>
</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FE4B1F-E7DE-A512-439A-4CF42E2E518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0E1BF01-2D7E-AB43-E925-CCDA4E363391}"/>
              </a:ext>
            </a:extLst>
          </p:cNvPr>
          <p:cNvPicPr>
            <a:picLocks noChangeAspect="1"/>
          </p:cNvPicPr>
          <p:nvPr/>
        </p:nvPicPr>
        <p:blipFill>
          <a:blip r:embed="rId3"/>
          <a:srcRect/>
          <a:stretch/>
        </p:blipFill>
        <p:spPr>
          <a:xfrm>
            <a:off x="634984" y="5079873"/>
            <a:ext cx="1396965" cy="1206470"/>
          </a:xfrm>
          <a:prstGeom prst="rect">
            <a:avLst/>
          </a:prstGeom>
        </p:spPr>
      </p:pic>
      <p:pic>
        <p:nvPicPr>
          <p:cNvPr id="3" name="Image 1" descr="preencoded.png">
            <a:extLst>
              <a:ext uri="{FF2B5EF4-FFF2-40B4-BE49-F238E27FC236}">
                <a16:creationId xmlns:a16="http://schemas.microsoft.com/office/drawing/2014/main" id="{A3DA9C22-710C-9C9F-A3B0-27A5C6CF2130}"/>
              </a:ext>
            </a:extLst>
          </p:cNvPr>
          <p:cNvPicPr>
            <a:picLocks noChangeAspect="1"/>
          </p:cNvPicPr>
          <p:nvPr/>
        </p:nvPicPr>
        <p:blipFill>
          <a:blip r:embed="rId4"/>
          <a:srcRect/>
          <a:stretch/>
        </p:blipFill>
        <p:spPr>
          <a:xfrm>
            <a:off x="8889778" y="507987"/>
            <a:ext cx="1523962" cy="1269968"/>
          </a:xfrm>
          <a:prstGeom prst="rect">
            <a:avLst/>
          </a:prstGeom>
        </p:spPr>
      </p:pic>
      <p:pic>
        <p:nvPicPr>
          <p:cNvPr id="4" name="Image 2" descr="preencoded.png">
            <a:extLst>
              <a:ext uri="{FF2B5EF4-FFF2-40B4-BE49-F238E27FC236}">
                <a16:creationId xmlns:a16="http://schemas.microsoft.com/office/drawing/2014/main" id="{94DE06A2-64E6-0AF9-246E-BE950DBBB334}"/>
              </a:ext>
            </a:extLst>
          </p:cNvPr>
          <p:cNvPicPr>
            <a:picLocks noChangeAspect="1"/>
          </p:cNvPicPr>
          <p:nvPr/>
        </p:nvPicPr>
        <p:blipFill>
          <a:blip r:embed="rId5"/>
          <a:srcRect/>
          <a:stretch/>
        </p:blipFill>
        <p:spPr>
          <a:xfrm>
            <a:off x="8381790" y="4571886"/>
            <a:ext cx="3764185" cy="2240394"/>
          </a:xfrm>
          <a:prstGeom prst="rect">
            <a:avLst/>
          </a:prstGeom>
        </p:spPr>
      </p:pic>
      <p:pic>
        <p:nvPicPr>
          <p:cNvPr id="5" name="Image 3" descr="preencoded.png">
            <a:extLst>
              <a:ext uri="{FF2B5EF4-FFF2-40B4-BE49-F238E27FC236}">
                <a16:creationId xmlns:a16="http://schemas.microsoft.com/office/drawing/2014/main" id="{83F2CF15-3F06-0FBD-4FEE-EBF69C139553}"/>
              </a:ext>
            </a:extLst>
          </p:cNvPr>
          <p:cNvPicPr>
            <a:picLocks noChangeAspect="1"/>
          </p:cNvPicPr>
          <p:nvPr/>
        </p:nvPicPr>
        <p:blipFill>
          <a:blip r:embed="rId6"/>
          <a:srcRect/>
          <a:stretch/>
        </p:blipFill>
        <p:spPr>
          <a:xfrm>
            <a:off x="0" y="0"/>
            <a:ext cx="3809905" cy="1904952"/>
          </a:xfrm>
          <a:prstGeom prst="rect">
            <a:avLst/>
          </a:prstGeom>
        </p:spPr>
      </p:pic>
      <p:sp>
        <p:nvSpPr>
          <p:cNvPr id="6" name="Text 0">
            <a:extLst>
              <a:ext uri="{FF2B5EF4-FFF2-40B4-BE49-F238E27FC236}">
                <a16:creationId xmlns:a16="http://schemas.microsoft.com/office/drawing/2014/main" id="{B4D47A12-B2F4-9CAE-63BE-054B94B0450C}"/>
              </a:ext>
            </a:extLst>
          </p:cNvPr>
          <p:cNvSpPr/>
          <p:nvPr/>
        </p:nvSpPr>
        <p:spPr>
          <a:xfrm>
            <a:off x="2285943" y="2285943"/>
            <a:ext cx="7619810" cy="1523962"/>
          </a:xfrm>
          <a:prstGeom prst="rect">
            <a:avLst/>
          </a:prstGeom>
          <a:noFill/>
          <a:ln>
            <a:noFill/>
          </a:ln>
        </p:spPr>
        <p:txBody>
          <a:bodyPr wrap="square" lIns="0" tIns="0" rIns="0" bIns="0" rtlCol="0" anchor="t"/>
          <a:lstStyle/>
          <a:p>
            <a:pPr marL="0" indent="0" algn="ctr">
              <a:lnSpc>
                <a:spcPct val="120000"/>
              </a:lnSpc>
              <a:buNone/>
            </a:pPr>
            <a:endParaRPr lang="en-US" sz="3000" dirty="0"/>
          </a:p>
        </p:txBody>
      </p:sp>
      <p:sp>
        <p:nvSpPr>
          <p:cNvPr id="7" name="Text 1">
            <a:extLst>
              <a:ext uri="{FF2B5EF4-FFF2-40B4-BE49-F238E27FC236}">
                <a16:creationId xmlns:a16="http://schemas.microsoft.com/office/drawing/2014/main" id="{7291B1F2-71A6-B572-6F8B-FE2E3E848D8C}"/>
              </a:ext>
            </a:extLst>
          </p:cNvPr>
          <p:cNvSpPr/>
          <p:nvPr/>
        </p:nvSpPr>
        <p:spPr>
          <a:xfrm>
            <a:off x="2285943" y="3727411"/>
            <a:ext cx="6603835" cy="2933627"/>
          </a:xfrm>
          <a:prstGeom prst="rect">
            <a:avLst/>
          </a:prstGeom>
          <a:noFill/>
          <a:ln/>
        </p:spPr>
        <p:txBody>
          <a:bodyPr wrap="square" lIns="0" tIns="0" rIns="0" bIns="0" rtlCol="0" anchor="t"/>
          <a:lstStyle/>
          <a:p>
            <a:pPr marL="342900" indent="-342900">
              <a:buFont typeface="+mj-lt"/>
              <a:buAutoNum type="arabicPeriod"/>
            </a:pPr>
            <a:endParaRPr lang="en-IN" sz="1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B36E1E1-ED3E-8BF5-0551-9A17D0337347}"/>
              </a:ext>
            </a:extLst>
          </p:cNvPr>
          <p:cNvSpPr txBox="1"/>
          <p:nvPr/>
        </p:nvSpPr>
        <p:spPr>
          <a:xfrm>
            <a:off x="4973053" y="383405"/>
            <a:ext cx="2178225" cy="553998"/>
          </a:xfrm>
          <a:prstGeom prst="rect">
            <a:avLst/>
          </a:prstGeom>
          <a:noFill/>
        </p:spPr>
        <p:txBody>
          <a:bodyPr wrap="none" rtlCol="0">
            <a:spAutoFit/>
          </a:bodyPr>
          <a:lstStyle/>
          <a:p>
            <a:r>
              <a:rPr lang="en-IN" sz="3000" b="1" dirty="0"/>
              <a:t>REFERENCES</a:t>
            </a:r>
          </a:p>
        </p:txBody>
      </p:sp>
      <p:sp>
        <p:nvSpPr>
          <p:cNvPr id="9" name="Rectangle 8">
            <a:extLst>
              <a:ext uri="{FF2B5EF4-FFF2-40B4-BE49-F238E27FC236}">
                <a16:creationId xmlns:a16="http://schemas.microsoft.com/office/drawing/2014/main" id="{2DD60682-C377-DD7D-1577-3A49C5268B45}"/>
              </a:ext>
            </a:extLst>
          </p:cNvPr>
          <p:cNvSpPr/>
          <p:nvPr/>
        </p:nvSpPr>
        <p:spPr>
          <a:xfrm>
            <a:off x="0" y="1395438"/>
            <a:ext cx="12192000"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657350" lvl="3" indent="-285750">
              <a:buFont typeface="Arial" panose="020B0604020202020204" pitchFamily="34" charset="0"/>
              <a:buChar char="•"/>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0CC30BB5-A84D-3C28-3DCB-D5A5B313C54A}"/>
              </a:ext>
            </a:extLst>
          </p:cNvPr>
          <p:cNvSpPr/>
          <p:nvPr/>
        </p:nvSpPr>
        <p:spPr>
          <a:xfrm>
            <a:off x="1333466" y="2068003"/>
            <a:ext cx="1085853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B91A787C-3658-19AD-EA9B-B11DF9A96BE7}"/>
              </a:ext>
            </a:extLst>
          </p:cNvPr>
          <p:cNvSpPr/>
          <p:nvPr/>
        </p:nvSpPr>
        <p:spPr>
          <a:xfrm>
            <a:off x="1333465" y="2746321"/>
            <a:ext cx="10858534"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71ED42C2-641E-190B-6177-60ACCA4E0A8A}"/>
              </a:ext>
            </a:extLst>
          </p:cNvPr>
          <p:cNvSpPr/>
          <p:nvPr/>
        </p:nvSpPr>
        <p:spPr>
          <a:xfrm>
            <a:off x="-23317" y="1025134"/>
            <a:ext cx="12238329" cy="48077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B. Gupta and M. P. Vani, "An overview of </a:t>
            </a:r>
            <a:r>
              <a:rPr lang="en-IN" sz="1400" dirty="0" err="1">
                <a:solidFill>
                  <a:schemeClr val="tx1"/>
                </a:solidFill>
                <a:latin typeface="Times New Roman" panose="02020603050405020304" pitchFamily="18" charset="0"/>
                <a:cs typeface="Times New Roman" panose="02020603050405020304" pitchFamily="18" charset="0"/>
              </a:rPr>
              <a:t>WebSockets</a:t>
            </a:r>
            <a:r>
              <a:rPr lang="en-IN" sz="1400" dirty="0">
                <a:solidFill>
                  <a:schemeClr val="tx1"/>
                </a:solidFill>
                <a:latin typeface="Times New Roman" panose="02020603050405020304" pitchFamily="18" charset="0"/>
                <a:cs typeface="Times New Roman" panose="02020603050405020304" pitchFamily="18" charset="0"/>
              </a:rPr>
              <a:t>: The future of real-time communication," International Research Journal of Engineering and Technology (IRJET), vol. 5, no. 12, 2018. </a:t>
            </a:r>
          </a:p>
          <a:p>
            <a:pPr marL="342900" indent="-342900">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R. Deshmukh et al., "Video conferencing using WebRTC," in Proc. 2023 International Conference on Sustainable Computing and Data Communication Systems (ICSCDS), IEEE, 2023.</a:t>
            </a:r>
          </a:p>
          <a:p>
            <a:pPr marL="342900" indent="-342900">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S. Kumar and A. Jeyaram, "Building a signalling service for WebRTC applications using Node.js and Socket.IO," in Proc. 2022 International Conference on Advances in Computing, Communication and Applied Informatics (ACCAI), IEEE, 2022. </a:t>
            </a:r>
          </a:p>
          <a:p>
            <a:pPr marL="342900" indent="-342900">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M. </a:t>
            </a:r>
            <a:r>
              <a:rPr lang="en-IN" sz="1400" dirty="0" err="1">
                <a:solidFill>
                  <a:schemeClr val="tx1"/>
                </a:solidFill>
                <a:latin typeface="Times New Roman" panose="02020603050405020304" pitchFamily="18" charset="0"/>
                <a:cs typeface="Times New Roman" panose="02020603050405020304" pitchFamily="18" charset="0"/>
              </a:rPr>
              <a:t>Bawane</a:t>
            </a:r>
            <a:r>
              <a:rPr lang="en-IN" sz="1400" dirty="0">
                <a:solidFill>
                  <a:schemeClr val="tx1"/>
                </a:solidFill>
                <a:latin typeface="Times New Roman" panose="02020603050405020304" pitchFamily="18" charset="0"/>
                <a:cs typeface="Times New Roman" panose="02020603050405020304" pitchFamily="18" charset="0"/>
              </a:rPr>
              <a:t> et al., "A review on technologies used in MERN stack," International Journal of Research in Applied Science and Engineering Technology, vol. 10, no. 1, pp. 479-488, 2022. </a:t>
            </a:r>
          </a:p>
          <a:p>
            <a:pPr marL="342900" indent="-342900">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Tailwind Labs, "Tailwind CSS documentation," Accessed: Nov. 2023. [Online]. Available: </a:t>
            </a:r>
            <a:r>
              <a:rPr lang="en-IN" sz="1400" dirty="0">
                <a:solidFill>
                  <a:srgbClr val="00B0F0"/>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https://tailwindcss.com/docs</a:t>
            </a:r>
            <a:endParaRPr lang="en-IN" sz="1400" dirty="0">
              <a:solidFill>
                <a:srgbClr val="00B0F0"/>
              </a:solidFill>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K. Gouda and K. Babu, "WebRTC-based real-time communication systems: A security and performance analysis," International Journal of Computer Applications,      vol. 179, no. 34, pp. 1-7, 2018. </a:t>
            </a:r>
          </a:p>
          <a:p>
            <a:pPr marL="342900" indent="-342900">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R. Narula, S. Agarwal, and A. Gupta, "Client-side storage techniques for secure web applications," ACM Computing Surveys, vol. 51, no. 1, Article 15, 2018. </a:t>
            </a:r>
          </a:p>
          <a:p>
            <a:pPr marL="342900" indent="-342900">
              <a:buFont typeface="+mj-lt"/>
              <a:buAutoNum type="arabicPeriod"/>
            </a:pPr>
            <a:endParaRPr lang="en-IN" sz="1400" dirty="0">
              <a:solidFill>
                <a:schemeClr val="tx1"/>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solidFill>
                  <a:schemeClr val="tx1"/>
                </a:solidFill>
                <a:latin typeface="Times New Roman" panose="02020603050405020304" pitchFamily="18" charset="0"/>
                <a:cs typeface="Times New Roman" panose="02020603050405020304" pitchFamily="18" charset="0"/>
              </a:rPr>
              <a:t>Socket.IO Documentation, "Socket.IO official documentation," Accessed: Nov. 2023. [Online]. Available: </a:t>
            </a:r>
            <a:r>
              <a:rPr lang="en-IN" sz="1400" u="sng" dirty="0">
                <a:solidFill>
                  <a:srgbClr val="00B0F0"/>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https://socket.io/docs</a:t>
            </a:r>
            <a:r>
              <a:rPr lang="en-IN" sz="1400" u="sng" dirty="0">
                <a:solidFill>
                  <a:srgbClr val="00B0F0"/>
                </a:solidFill>
                <a:latin typeface="Times New Roman" panose="02020603050405020304" pitchFamily="18" charset="0"/>
                <a:cs typeface="Times New Roman" panose="02020603050405020304" pitchFamily="18" charset="0"/>
              </a:rPr>
              <a:t>/v4</a:t>
            </a:r>
          </a:p>
        </p:txBody>
      </p:sp>
    </p:spTree>
    <p:extLst>
      <p:ext uri="{BB962C8B-B14F-4D97-AF65-F5344CB8AC3E}">
        <p14:creationId xmlns:p14="http://schemas.microsoft.com/office/powerpoint/2010/main" val="2552928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0FFF5-4754-B4ED-2EB6-5D0EDD82E2D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E30246C-11F7-C2BD-61ED-41ABE51B5F0F}"/>
              </a:ext>
            </a:extLst>
          </p:cNvPr>
          <p:cNvPicPr>
            <a:picLocks noChangeAspect="1"/>
          </p:cNvPicPr>
          <p:nvPr/>
        </p:nvPicPr>
        <p:blipFill>
          <a:blip r:embed="rId3"/>
          <a:srcRect/>
          <a:stretch/>
        </p:blipFill>
        <p:spPr>
          <a:xfrm>
            <a:off x="634984" y="5079873"/>
            <a:ext cx="1396965" cy="1206470"/>
          </a:xfrm>
          <a:prstGeom prst="rect">
            <a:avLst/>
          </a:prstGeom>
        </p:spPr>
      </p:pic>
      <p:pic>
        <p:nvPicPr>
          <p:cNvPr id="3" name="Image 1" descr="preencoded.png">
            <a:extLst>
              <a:ext uri="{FF2B5EF4-FFF2-40B4-BE49-F238E27FC236}">
                <a16:creationId xmlns:a16="http://schemas.microsoft.com/office/drawing/2014/main" id="{DA721C01-DA0B-A2B4-8DFD-C506845846C8}"/>
              </a:ext>
            </a:extLst>
          </p:cNvPr>
          <p:cNvPicPr>
            <a:picLocks noChangeAspect="1"/>
          </p:cNvPicPr>
          <p:nvPr/>
        </p:nvPicPr>
        <p:blipFill>
          <a:blip r:embed="rId4"/>
          <a:srcRect/>
          <a:stretch/>
        </p:blipFill>
        <p:spPr>
          <a:xfrm>
            <a:off x="8889778" y="507987"/>
            <a:ext cx="1523962" cy="1269968"/>
          </a:xfrm>
          <a:prstGeom prst="rect">
            <a:avLst/>
          </a:prstGeom>
        </p:spPr>
      </p:pic>
      <p:pic>
        <p:nvPicPr>
          <p:cNvPr id="4" name="Image 2" descr="preencoded.png">
            <a:extLst>
              <a:ext uri="{FF2B5EF4-FFF2-40B4-BE49-F238E27FC236}">
                <a16:creationId xmlns:a16="http://schemas.microsoft.com/office/drawing/2014/main" id="{036640DE-C48F-2653-9DEF-D0E7867E3064}"/>
              </a:ext>
            </a:extLst>
          </p:cNvPr>
          <p:cNvPicPr>
            <a:picLocks noChangeAspect="1"/>
          </p:cNvPicPr>
          <p:nvPr/>
        </p:nvPicPr>
        <p:blipFill>
          <a:blip r:embed="rId5"/>
          <a:srcRect/>
          <a:stretch/>
        </p:blipFill>
        <p:spPr>
          <a:xfrm>
            <a:off x="8381790" y="4571886"/>
            <a:ext cx="3764185" cy="2240394"/>
          </a:xfrm>
          <a:prstGeom prst="rect">
            <a:avLst/>
          </a:prstGeom>
        </p:spPr>
      </p:pic>
      <p:pic>
        <p:nvPicPr>
          <p:cNvPr id="5" name="Image 3" descr="preencoded.png">
            <a:extLst>
              <a:ext uri="{FF2B5EF4-FFF2-40B4-BE49-F238E27FC236}">
                <a16:creationId xmlns:a16="http://schemas.microsoft.com/office/drawing/2014/main" id="{B947D74F-F129-6996-585A-5221DE8D0841}"/>
              </a:ext>
            </a:extLst>
          </p:cNvPr>
          <p:cNvPicPr>
            <a:picLocks noChangeAspect="1"/>
          </p:cNvPicPr>
          <p:nvPr/>
        </p:nvPicPr>
        <p:blipFill>
          <a:blip r:embed="rId6"/>
          <a:srcRect/>
          <a:stretch/>
        </p:blipFill>
        <p:spPr>
          <a:xfrm>
            <a:off x="0" y="0"/>
            <a:ext cx="3809905" cy="1904952"/>
          </a:xfrm>
          <a:prstGeom prst="rect">
            <a:avLst/>
          </a:prstGeom>
        </p:spPr>
      </p:pic>
      <p:sp>
        <p:nvSpPr>
          <p:cNvPr id="6" name="Text 0">
            <a:extLst>
              <a:ext uri="{FF2B5EF4-FFF2-40B4-BE49-F238E27FC236}">
                <a16:creationId xmlns:a16="http://schemas.microsoft.com/office/drawing/2014/main" id="{BC432F21-3DF9-4962-A46A-13E7D592D25F}"/>
              </a:ext>
            </a:extLst>
          </p:cNvPr>
          <p:cNvSpPr/>
          <p:nvPr/>
        </p:nvSpPr>
        <p:spPr>
          <a:xfrm>
            <a:off x="2285943" y="2285943"/>
            <a:ext cx="7619810" cy="1523962"/>
          </a:xfrm>
          <a:prstGeom prst="rect">
            <a:avLst/>
          </a:prstGeom>
          <a:noFill/>
          <a:ln/>
        </p:spPr>
        <p:txBody>
          <a:bodyPr wrap="square" lIns="0" tIns="0" rIns="0" bIns="0" rtlCol="0" anchor="t"/>
          <a:lstStyle/>
          <a:p>
            <a:pPr marL="0" indent="0" algn="ctr">
              <a:lnSpc>
                <a:spcPct val="120000"/>
              </a:lnSpc>
              <a:buNone/>
            </a:pPr>
            <a:r>
              <a:rPr lang="en-US" sz="7200" b="1" dirty="0">
                <a:latin typeface="Calibri" pitchFamily="34" charset="0"/>
                <a:ea typeface="Calibri" pitchFamily="34" charset="-122"/>
                <a:cs typeface="Calibri" pitchFamily="34" charset="-120"/>
              </a:rPr>
              <a:t>THANK YOU !
</a:t>
            </a:r>
            <a:endParaRPr lang="en-US" sz="7200" dirty="0"/>
          </a:p>
        </p:txBody>
      </p:sp>
    </p:spTree>
    <p:extLst>
      <p:ext uri="{BB962C8B-B14F-4D97-AF65-F5344CB8AC3E}">
        <p14:creationId xmlns:p14="http://schemas.microsoft.com/office/powerpoint/2010/main" val="1591383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1609</TotalTime>
  <Words>1900</Words>
  <Application>Microsoft Office PowerPoint</Application>
  <PresentationFormat>Widescreen</PresentationFormat>
  <Paragraphs>209</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Georgia</vt:lpstr>
      <vt:lpstr>Inter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Ankit Sahu</cp:lastModifiedBy>
  <cp:revision>19</cp:revision>
  <dcterms:created xsi:type="dcterms:W3CDTF">2025-11-27T17:40:14Z</dcterms:created>
  <dcterms:modified xsi:type="dcterms:W3CDTF">2026-05-25T05:43:39Z</dcterms:modified>
</cp:coreProperties>
</file>